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67" r:id="rId2"/>
    <p:sldId id="256" r:id="rId3"/>
    <p:sldId id="257" r:id="rId4"/>
    <p:sldId id="258" r:id="rId5"/>
    <p:sldId id="259" r:id="rId6"/>
    <p:sldId id="269" r:id="rId7"/>
    <p:sldId id="260" r:id="rId8"/>
    <p:sldId id="270" r:id="rId9"/>
    <p:sldId id="262" r:id="rId10"/>
    <p:sldId id="261" r:id="rId11"/>
    <p:sldId id="263" r:id="rId12"/>
    <p:sldId id="264" r:id="rId13"/>
    <p:sldId id="265" r:id="rId14"/>
    <p:sldId id="268" r:id="rId15"/>
  </p:sldIdLst>
  <p:sldSz cx="14630400" cy="8229600"/>
  <p:notesSz cx="8229600" cy="14630400"/>
  <p:embeddedFontLst>
    <p:embeddedFont>
      <p:font typeface="Book Antiqua" panose="02040602050305030304" pitchFamily="18" charset="0"/>
      <p:regular r:id="rId17"/>
      <p:bold r:id="rId18"/>
      <p:italic r:id="rId19"/>
      <p:boldItalic r:id="rId20"/>
    </p:embeddedFont>
    <p:embeddedFont>
      <p:font typeface="Open Sans" panose="020B0606030504020204" pitchFamily="3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36A764-59A8-5EED-4469-60FDAB883494}" v="4" dt="2026-03-12T10:10:58.700"/>
    <p1510:client id="{5955B0C5-8151-3040-0069-3ADE4E9B3F86}" v="36" dt="2026-03-12T06:20:45.916"/>
    <p1510:client id="{8712035B-EB51-3014-0852-13E833106863}" v="95" dt="2026-03-12T06:45:07.592"/>
    <p1510:client id="{B33BE542-CDE1-4109-A7C4-0500251521BC}" v="56" dt="2026-03-12T06:19:29.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092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8"/>
          <p:cNvSpPr txBox="1">
            <a:spLocks noGrp="1"/>
          </p:cNvSpPr>
          <p:nvPr>
            <p:ph type="dt" idx="10"/>
          </p:nvPr>
        </p:nvSpPr>
        <p:spPr>
          <a:xfrm>
            <a:off x="1005840" y="7627621"/>
            <a:ext cx="3291840" cy="4381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8"/>
          <p:cNvSpPr txBox="1">
            <a:spLocks noGrp="1"/>
          </p:cNvSpPr>
          <p:nvPr>
            <p:ph type="ftr" idx="11"/>
          </p:nvPr>
        </p:nvSpPr>
        <p:spPr>
          <a:xfrm>
            <a:off x="4846320" y="7627621"/>
            <a:ext cx="4937760" cy="4381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8"/>
          <p:cNvSpPr txBox="1">
            <a:spLocks noGrp="1"/>
          </p:cNvSpPr>
          <p:nvPr>
            <p:ph type="sldNum" idx="12"/>
          </p:nvPr>
        </p:nvSpPr>
        <p:spPr>
          <a:xfrm>
            <a:off x="10332720" y="7627621"/>
            <a:ext cx="3291840" cy="4381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968186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hyperlink" Target="https://cohere.com/rerank" TargetMode="External"/><Relationship Id="rId2" Type="http://schemas.openxmlformats.org/officeDocument/2006/relationships/hyperlink" Target="https://aka.ms/LLMLingua" TargetMode="External"/><Relationship Id="rId1" Type="http://schemas.openxmlformats.org/officeDocument/2006/relationships/slideLayout" Target="../slideLayouts/slideLayout11.xml"/><Relationship Id="rId5" Type="http://schemas.openxmlformats.org/officeDocument/2006/relationships/hyperlink" Target="https://aka.ms/LLMLingua-2" TargetMode="External"/><Relationship Id="rId4" Type="http://schemas.openxmlformats.org/officeDocument/2006/relationships/hyperlink" Target="http://arxiv.org/abs/2305.1174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
          <p:cNvSpPr txBox="1"/>
          <p:nvPr/>
        </p:nvSpPr>
        <p:spPr>
          <a:xfrm>
            <a:off x="1498551" y="3455216"/>
            <a:ext cx="3758030" cy="415462"/>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lgn="ctr">
              <a:buClr>
                <a:schemeClr val="dk1"/>
              </a:buClr>
              <a:buSzPts val="1800"/>
            </a:pPr>
            <a:r>
              <a:rPr lang="en-US" sz="2160" b="1">
                <a:solidFill>
                  <a:schemeClr val="dk1"/>
                </a:solidFill>
                <a:latin typeface="Arial"/>
                <a:ea typeface="Arial"/>
                <a:cs typeface="Arial"/>
                <a:sym typeface="Arial"/>
              </a:rPr>
              <a:t>Presented by :-</a:t>
            </a:r>
            <a:endParaRPr sz="2160" b="1">
              <a:solidFill>
                <a:schemeClr val="dk1"/>
              </a:solidFill>
              <a:latin typeface="Arial"/>
              <a:ea typeface="Arial"/>
              <a:cs typeface="Arial"/>
              <a:sym typeface="Arial"/>
            </a:endParaRPr>
          </a:p>
        </p:txBody>
      </p:sp>
      <p:sp>
        <p:nvSpPr>
          <p:cNvPr id="159" name="Google Shape;159;p1"/>
          <p:cNvSpPr txBox="1"/>
          <p:nvPr/>
        </p:nvSpPr>
        <p:spPr>
          <a:xfrm>
            <a:off x="9373819" y="3455216"/>
            <a:ext cx="3758030" cy="415462"/>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lgn="ctr">
              <a:buClr>
                <a:schemeClr val="dk1"/>
              </a:buClr>
              <a:buSzPts val="1800"/>
            </a:pPr>
            <a:r>
              <a:rPr lang="en-US" sz="2160" b="1">
                <a:solidFill>
                  <a:schemeClr val="dk1"/>
                </a:solidFill>
                <a:latin typeface="Arial"/>
                <a:ea typeface="Arial"/>
                <a:cs typeface="Arial"/>
                <a:sym typeface="Arial"/>
              </a:rPr>
              <a:t>Project Guide :- </a:t>
            </a:r>
            <a:endParaRPr sz="2160" b="1">
              <a:solidFill>
                <a:schemeClr val="dk1"/>
              </a:solidFill>
              <a:latin typeface="Arial"/>
              <a:ea typeface="Arial"/>
              <a:cs typeface="Arial"/>
              <a:sym typeface="Arial"/>
            </a:endParaRPr>
          </a:p>
        </p:txBody>
      </p:sp>
      <p:sp>
        <p:nvSpPr>
          <p:cNvPr id="160" name="Google Shape;160;p1"/>
          <p:cNvSpPr txBox="1"/>
          <p:nvPr/>
        </p:nvSpPr>
        <p:spPr>
          <a:xfrm>
            <a:off x="8835390" y="4114799"/>
            <a:ext cx="4296460" cy="415462"/>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lgn="ctr"/>
            <a:r>
              <a:rPr lang="en-US" sz="2160" b="1">
                <a:solidFill>
                  <a:schemeClr val="dk1"/>
                </a:solidFill>
                <a:latin typeface="Arial"/>
                <a:ea typeface="Arial"/>
                <a:cs typeface="Arial"/>
                <a:sym typeface="Arial"/>
              </a:rPr>
              <a:t>Dr. Radhika Kulkarni</a:t>
            </a:r>
            <a:endParaRPr sz="2160"/>
          </a:p>
        </p:txBody>
      </p:sp>
      <p:sp>
        <p:nvSpPr>
          <p:cNvPr id="161" name="Google Shape;161;p1"/>
          <p:cNvSpPr txBox="1"/>
          <p:nvPr/>
        </p:nvSpPr>
        <p:spPr>
          <a:xfrm>
            <a:off x="1498551" y="6854859"/>
            <a:ext cx="11642288" cy="415462"/>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lgn="ctr">
              <a:buClr>
                <a:schemeClr val="dk1"/>
              </a:buClr>
              <a:buSzPts val="1800"/>
            </a:pPr>
            <a:r>
              <a:rPr lang="en-US" sz="2160" b="1">
                <a:solidFill>
                  <a:schemeClr val="dk1"/>
                </a:solidFill>
                <a:latin typeface="Arial"/>
                <a:ea typeface="Arial"/>
                <a:cs typeface="Arial"/>
                <a:sym typeface="Arial"/>
              </a:rPr>
              <a:t>DEPARTMENT OF ENGINEERING SCIENCES AND HUMANITIES (DESH)</a:t>
            </a:r>
            <a:endParaRPr sz="2160" b="1">
              <a:solidFill>
                <a:schemeClr val="dk1"/>
              </a:solidFill>
              <a:latin typeface="Arial"/>
              <a:ea typeface="Arial"/>
              <a:cs typeface="Arial"/>
              <a:sym typeface="Arial"/>
            </a:endParaRPr>
          </a:p>
        </p:txBody>
      </p:sp>
      <p:sp>
        <p:nvSpPr>
          <p:cNvPr id="162" name="Google Shape;162;p1"/>
          <p:cNvSpPr txBox="1"/>
          <p:nvPr/>
        </p:nvSpPr>
        <p:spPr>
          <a:xfrm>
            <a:off x="948828" y="7514443"/>
            <a:ext cx="12722784" cy="452395"/>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lgn="ctr">
              <a:buClr>
                <a:schemeClr val="dk1"/>
              </a:buClr>
              <a:buSzPts val="2000"/>
            </a:pPr>
            <a:r>
              <a:rPr lang="en-US" sz="2400" b="1">
                <a:solidFill>
                  <a:schemeClr val="dk1"/>
                </a:solidFill>
                <a:latin typeface="Arial"/>
                <a:ea typeface="Arial"/>
                <a:cs typeface="Arial"/>
                <a:sym typeface="Arial"/>
              </a:rPr>
              <a:t>VISHWAKARMA INSTITUTE OF TECHNOLOGY, PUNE </a:t>
            </a:r>
            <a:endParaRPr sz="2400" b="1">
              <a:solidFill>
                <a:schemeClr val="dk1"/>
              </a:solidFill>
              <a:latin typeface="Arial"/>
              <a:ea typeface="Arial"/>
              <a:cs typeface="Arial"/>
              <a:sym typeface="Arial"/>
            </a:endParaRPr>
          </a:p>
        </p:txBody>
      </p:sp>
      <p:sp>
        <p:nvSpPr>
          <p:cNvPr id="163" name="Google Shape;163;p1"/>
          <p:cNvSpPr txBox="1"/>
          <p:nvPr/>
        </p:nvSpPr>
        <p:spPr>
          <a:xfrm>
            <a:off x="958788" y="203427"/>
            <a:ext cx="12712824" cy="378529"/>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lgn="ctr"/>
            <a:r>
              <a:rPr lang="en-US" sz="1920" b="1">
                <a:solidFill>
                  <a:srgbClr val="3333FF"/>
                </a:solidFill>
                <a:latin typeface="Arial"/>
                <a:ea typeface="Arial"/>
                <a:cs typeface="Arial"/>
                <a:sym typeface="Arial"/>
              </a:rPr>
              <a:t>EDI PROJECT – PPT FOR MID SEMESTER ASSESSMENT – 13th</a:t>
            </a:r>
            <a:r>
              <a:rPr lang="en-US" sz="1920" b="1" baseline="30000">
                <a:solidFill>
                  <a:srgbClr val="3333FF"/>
                </a:solidFill>
                <a:latin typeface="Arial"/>
                <a:ea typeface="Arial"/>
                <a:cs typeface="Arial"/>
                <a:sym typeface="Arial"/>
              </a:rPr>
              <a:t>  </a:t>
            </a:r>
            <a:r>
              <a:rPr lang="en-US" sz="1920" b="1">
                <a:solidFill>
                  <a:srgbClr val="3333FF"/>
                </a:solidFill>
                <a:latin typeface="Arial"/>
                <a:ea typeface="Arial"/>
                <a:cs typeface="Arial"/>
                <a:sym typeface="Arial"/>
              </a:rPr>
              <a:t>MARCH, 2026</a:t>
            </a:r>
            <a:endParaRPr sz="1920" b="1">
              <a:solidFill>
                <a:srgbClr val="3333FF"/>
              </a:solidFill>
              <a:latin typeface="Arial"/>
              <a:ea typeface="Arial"/>
              <a:cs typeface="Arial"/>
              <a:sym typeface="Arial"/>
            </a:endParaRPr>
          </a:p>
        </p:txBody>
      </p:sp>
      <p:sp>
        <p:nvSpPr>
          <p:cNvPr id="164" name="Google Shape;164;p1"/>
          <p:cNvSpPr txBox="1"/>
          <p:nvPr/>
        </p:nvSpPr>
        <p:spPr>
          <a:xfrm>
            <a:off x="1498551" y="1050998"/>
            <a:ext cx="11633299" cy="1708124"/>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r>
              <a:rPr lang="en-US" sz="3600" b="1">
                <a:solidFill>
                  <a:schemeClr val="dk1"/>
                </a:solidFill>
                <a:latin typeface="Arial"/>
                <a:ea typeface="Arial"/>
                <a:cs typeface="Arial"/>
                <a:sym typeface="Arial"/>
              </a:rPr>
              <a:t>PROJECT_TITLE :-</a:t>
            </a:r>
            <a:r>
              <a:rPr lang="en-US" sz="2000">
                <a:solidFill>
                  <a:schemeClr val="dk1"/>
                </a:solidFill>
                <a:latin typeface="Calibri"/>
                <a:ea typeface="Calibri"/>
                <a:cs typeface="Calibri"/>
                <a:sym typeface="Calibri"/>
              </a:rPr>
              <a:t> </a:t>
            </a:r>
            <a:r>
              <a:rPr lang="en-US" sz="3600" b="1">
                <a:latin typeface="Arial" panose="020B0604020202020204" pitchFamily="34" charset="0"/>
                <a:ea typeface="Unbounded Bold" pitchFamily="34" charset="-122"/>
                <a:cs typeface="Arial" panose="020B0604020202020204" pitchFamily="34" charset="0"/>
              </a:rPr>
              <a:t>Reducing Hallucinations in Large Language Models Through Prompt Compression</a:t>
            </a:r>
            <a:endParaRPr lang="en-US" sz="3600">
              <a:latin typeface="Arial" panose="020B0604020202020204" pitchFamily="34" charset="0"/>
              <a:cs typeface="Arial" panose="020B0604020202020204" pitchFamily="34" charset="0"/>
            </a:endParaRPr>
          </a:p>
          <a:p>
            <a:endParaRPr sz="3360" b="1">
              <a:solidFill>
                <a:srgbClr val="0C0C0C"/>
              </a:solidFill>
              <a:latin typeface="Book Antiqua"/>
              <a:ea typeface="Book Antiqua"/>
              <a:cs typeface="Book Antiqua"/>
              <a:sym typeface="Book Antiqua"/>
            </a:endParaRPr>
          </a:p>
        </p:txBody>
      </p:sp>
      <p:sp>
        <p:nvSpPr>
          <p:cNvPr id="165" name="Google Shape;165;p1"/>
          <p:cNvSpPr txBox="1"/>
          <p:nvPr/>
        </p:nvSpPr>
        <p:spPr>
          <a:xfrm>
            <a:off x="1498551" y="2795635"/>
            <a:ext cx="11633299" cy="415462"/>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buClr>
                <a:schemeClr val="dk1"/>
              </a:buClr>
              <a:buSzPts val="1800"/>
            </a:pPr>
            <a:r>
              <a:rPr lang="en-US" sz="2160" b="1">
                <a:solidFill>
                  <a:schemeClr val="dk1"/>
                </a:solidFill>
                <a:latin typeface="Arial"/>
                <a:ea typeface="Arial"/>
                <a:cs typeface="Arial"/>
                <a:sym typeface="Arial"/>
              </a:rPr>
              <a:t> Div:- CS-J             ASEP2_GROUP No :- 1             Day:- FRIDAY       Date:13/3/2026  </a:t>
            </a:r>
            <a:endParaRPr sz="2160" b="1">
              <a:solidFill>
                <a:schemeClr val="dk1"/>
              </a:solidFill>
              <a:latin typeface="Arial"/>
              <a:ea typeface="Arial"/>
              <a:cs typeface="Arial"/>
              <a:sym typeface="Arial"/>
            </a:endParaRPr>
          </a:p>
        </p:txBody>
      </p:sp>
      <p:sp>
        <p:nvSpPr>
          <p:cNvPr id="166" name="Google Shape;166;p1"/>
          <p:cNvSpPr txBox="1"/>
          <p:nvPr/>
        </p:nvSpPr>
        <p:spPr>
          <a:xfrm>
            <a:off x="1498551" y="4114800"/>
            <a:ext cx="6503564" cy="1892790"/>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82290" tIns="41130" rIns="82290" bIns="41130" anchor="t" anchorCtr="0">
            <a:spAutoFit/>
          </a:bodyPr>
          <a:lstStyle/>
          <a:p>
            <a:pPr algn="ctr"/>
            <a:r>
              <a:rPr lang="en-US" sz="2400" b="1">
                <a:solidFill>
                  <a:srgbClr val="3F3F3F"/>
                </a:solidFill>
                <a:latin typeface="Arial"/>
                <a:ea typeface="Arial"/>
                <a:cs typeface="Arial"/>
                <a:sym typeface="Arial"/>
              </a:rPr>
              <a:t> 03) Prathmesh Tiwari           (12414231)</a:t>
            </a:r>
            <a:endParaRPr lang="en-US" sz="2160">
              <a:solidFill>
                <a:srgbClr val="3F3F3F"/>
              </a:solidFill>
              <a:latin typeface="Arial"/>
              <a:ea typeface="Arial"/>
              <a:cs typeface="Arial"/>
              <a:sym typeface="Arial"/>
            </a:endParaRPr>
          </a:p>
          <a:p>
            <a:pPr algn="ctr"/>
            <a:r>
              <a:rPr lang="en-US" sz="2400" b="1">
                <a:solidFill>
                  <a:srgbClr val="3F3F3F"/>
                </a:solidFill>
                <a:latin typeface="Arial"/>
                <a:ea typeface="Arial"/>
                <a:cs typeface="Arial"/>
                <a:sym typeface="Arial"/>
              </a:rPr>
              <a:t>06) </a:t>
            </a:r>
            <a:r>
              <a:rPr lang="en-US" sz="2400" b="1" err="1">
                <a:solidFill>
                  <a:srgbClr val="3F3F3F"/>
                </a:solidFill>
                <a:latin typeface="Arial"/>
                <a:ea typeface="Arial"/>
                <a:cs typeface="Arial"/>
                <a:sym typeface="Arial"/>
              </a:rPr>
              <a:t>Pratyay</a:t>
            </a:r>
            <a:r>
              <a:rPr lang="en-US" sz="2400" b="1">
                <a:solidFill>
                  <a:srgbClr val="3F3F3F"/>
                </a:solidFill>
                <a:latin typeface="Arial"/>
                <a:ea typeface="Arial"/>
                <a:cs typeface="Arial"/>
                <a:sym typeface="Arial"/>
              </a:rPr>
              <a:t> Patel                  (12413267)</a:t>
            </a:r>
            <a:endParaRPr sz="2150">
              <a:solidFill>
                <a:srgbClr val="3F3F3F"/>
              </a:solidFill>
              <a:latin typeface="Arial"/>
              <a:ea typeface="Arial"/>
              <a:cs typeface="Arial"/>
            </a:endParaRPr>
          </a:p>
          <a:p>
            <a:pPr algn="ctr"/>
            <a:r>
              <a:rPr lang="en-US" sz="2400" b="1">
                <a:solidFill>
                  <a:srgbClr val="3F3F3F"/>
                </a:solidFill>
                <a:latin typeface="Arial"/>
                <a:ea typeface="Arial"/>
                <a:cs typeface="Arial"/>
                <a:sym typeface="Arial"/>
              </a:rPr>
              <a:t>40) Sagar Santhosh             (</a:t>
            </a:r>
            <a:r>
              <a:rPr lang="en-US" sz="2400" b="1">
                <a:solidFill>
                  <a:schemeClr val="dk1"/>
                </a:solidFill>
                <a:latin typeface="Arial"/>
                <a:ea typeface="Arial"/>
                <a:cs typeface="Arial"/>
                <a:sym typeface="Arial"/>
              </a:rPr>
              <a:t>12411275</a:t>
            </a:r>
            <a:r>
              <a:rPr lang="en-US" sz="2400" b="1">
                <a:solidFill>
                  <a:srgbClr val="3F3F3F"/>
                </a:solidFill>
                <a:latin typeface="Arial"/>
                <a:ea typeface="Arial"/>
                <a:cs typeface="Arial"/>
                <a:sym typeface="Arial"/>
              </a:rPr>
              <a:t>)</a:t>
            </a:r>
            <a:endParaRPr sz="2400">
              <a:solidFill>
                <a:srgbClr val="3F3F3F"/>
              </a:solidFill>
              <a:latin typeface="Arial"/>
              <a:ea typeface="Arial"/>
              <a:cs typeface="Arial"/>
              <a:sym typeface="Arial"/>
            </a:endParaRPr>
          </a:p>
          <a:p>
            <a:pPr algn="ctr"/>
            <a:r>
              <a:rPr lang="en-US" sz="2400" b="1">
                <a:solidFill>
                  <a:srgbClr val="3F3F3F"/>
                </a:solidFill>
                <a:latin typeface="Arial"/>
                <a:ea typeface="Arial"/>
                <a:cs typeface="Arial"/>
                <a:sym typeface="Arial"/>
              </a:rPr>
              <a:t>55) Ruhaan Sande(</a:t>
            </a:r>
            <a:r>
              <a:rPr lang="en-US" sz="2400" b="1">
                <a:solidFill>
                  <a:schemeClr val="dk1"/>
                </a:solidFill>
                <a:latin typeface="Arial"/>
                <a:ea typeface="Arial"/>
                <a:cs typeface="Arial"/>
                <a:sym typeface="Arial"/>
              </a:rPr>
              <a:t>12413585</a:t>
            </a:r>
            <a:r>
              <a:rPr lang="en-US" sz="2400" b="1">
                <a:solidFill>
                  <a:srgbClr val="3F3F3F"/>
                </a:solidFill>
                <a:latin typeface="Arial"/>
                <a:ea typeface="Arial"/>
                <a:cs typeface="Arial"/>
                <a:sym typeface="Arial"/>
              </a:rPr>
              <a:t>)    </a:t>
            </a:r>
            <a:br>
              <a:rPr lang="en-US" sz="2400" b="1">
                <a:latin typeface="Arial"/>
                <a:ea typeface="Arial"/>
                <a:cs typeface="Arial"/>
              </a:rPr>
            </a:br>
            <a:endParaRPr sz="216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7018" y="744711"/>
            <a:ext cx="13042821" cy="1860233"/>
          </a:xfrm>
          <a:prstGeom prst="rect">
            <a:avLst/>
          </a:prstGeom>
          <a:noFill/>
          <a:ln/>
        </p:spPr>
        <p:txBody>
          <a:bodyPr wrap="square" lIns="0" tIns="0" rIns="0" bIns="0" rtlCol="0" anchor="t"/>
          <a:lstStyle/>
          <a:p>
            <a:pPr marL="0" indent="0" algn="l">
              <a:lnSpc>
                <a:spcPts val="4850"/>
              </a:lnSpc>
              <a:buNone/>
            </a:pPr>
            <a:r>
              <a:rPr lang="en-US" sz="3900" b="1">
                <a:solidFill>
                  <a:srgbClr val="333F70"/>
                </a:solidFill>
                <a:latin typeface="Unbounded Bold" pitchFamily="34" charset="0"/>
                <a:ea typeface="Unbounded Bold" pitchFamily="34" charset="-122"/>
                <a:cs typeface="Unbounded Bold" pitchFamily="34" charset="-120"/>
              </a:rPr>
              <a:t>Reducing Hallucinations in Large Language Models Through Prompt Compression</a:t>
            </a:r>
            <a:endParaRPr lang="en-US" sz="3900"/>
          </a:p>
        </p:txBody>
      </p:sp>
      <p:sp>
        <p:nvSpPr>
          <p:cNvPr id="3" name="Text 1"/>
          <p:cNvSpPr/>
          <p:nvPr/>
        </p:nvSpPr>
        <p:spPr>
          <a:xfrm>
            <a:off x="793790" y="3114794"/>
            <a:ext cx="13042821" cy="127015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Large Language Models (LLMs) have emerged as one of the most transformative technologies in artificial intelligence, demonstrating remarkable capabilities across diverse domains. These sophisticated models are trained on massive text datasets encompassing billions of tokens, enabling them to perform an extensive range of tasks including question answering, document summarisation, logical reasoning, and engaging in natural conversational dialogue.</a:t>
            </a:r>
            <a:endParaRPr lang="en-US" sz="1550"/>
          </a:p>
        </p:txBody>
      </p:sp>
      <p:sp>
        <p:nvSpPr>
          <p:cNvPr id="4" name="Text 2"/>
          <p:cNvSpPr/>
          <p:nvPr/>
        </p:nvSpPr>
        <p:spPr>
          <a:xfrm>
            <a:off x="793790" y="4608195"/>
            <a:ext cx="13042821" cy="127015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Prominent examples of modern LLMs include the GPT series, LLaMA architecture, and Phi-3 models, each demonstrating increasingly sophisticated language understanding and generation capabilities. Despite their impressive performance, these models suffer from a critical limitation known as </a:t>
            </a:r>
            <a:r>
              <a:rPr lang="en-US" sz="1550" b="1">
                <a:solidFill>
                  <a:srgbClr val="26A688"/>
                </a:solidFill>
                <a:latin typeface="Open Sans" pitchFamily="34" charset="0"/>
                <a:ea typeface="Open Sans" pitchFamily="34" charset="-122"/>
                <a:cs typeface="Open Sans" pitchFamily="34" charset="-120"/>
              </a:rPr>
              <a:t>hallucination</a:t>
            </a:r>
            <a:r>
              <a:rPr lang="en-US" sz="1550">
                <a:solidFill>
                  <a:srgbClr val="333F70"/>
                </a:solidFill>
                <a:latin typeface="Open Sans" pitchFamily="34" charset="0"/>
                <a:ea typeface="Open Sans" pitchFamily="34" charset="-122"/>
                <a:cs typeface="Open Sans" pitchFamily="34" charset="-120"/>
              </a:rPr>
              <a:t>—a phenomenon where the model generates responses that are factually incorrect, entirely fabricated, or unsupported by the provided context, yet presented with unwavering confidence and fluency.</a:t>
            </a:r>
            <a:endParaRPr lang="en-US" sz="1550"/>
          </a:p>
        </p:txBody>
      </p:sp>
      <p:sp>
        <p:nvSpPr>
          <p:cNvPr id="5" name="Text 3"/>
          <p:cNvSpPr/>
          <p:nvPr/>
        </p:nvSpPr>
        <p:spPr>
          <a:xfrm>
            <a:off x="793790" y="6101596"/>
            <a:ext cx="13042821" cy="127015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Hallucinations pose significant risks in safety-critical applications such as healthcare diagnostics, educational instruction, financial decision-making, and scientific research, where factual accuracy is paramount. This project investigates whether </a:t>
            </a:r>
            <a:r>
              <a:rPr lang="en-US" sz="1550" b="1">
                <a:solidFill>
                  <a:srgbClr val="26A688"/>
                </a:solidFill>
                <a:latin typeface="Open Sans" pitchFamily="34" charset="0"/>
                <a:ea typeface="Open Sans" pitchFamily="34" charset="-122"/>
                <a:cs typeface="Open Sans" pitchFamily="34" charset="-120"/>
              </a:rPr>
              <a:t>prompt compression</a:t>
            </a:r>
            <a:r>
              <a:rPr lang="en-US" sz="1550">
                <a:solidFill>
                  <a:srgbClr val="333F70"/>
                </a:solidFill>
                <a:latin typeface="Open Sans" pitchFamily="34" charset="0"/>
                <a:ea typeface="Open Sans" pitchFamily="34" charset="-122"/>
                <a:cs typeface="Open Sans" pitchFamily="34" charset="-120"/>
              </a:rPr>
              <a:t>—removing unnecessary information from input prompts—can reduce hallucinations by eliminating redundant or irrelevant context that may confuse the model.</a:t>
            </a:r>
            <a:endParaRPr lang="en-US" sz="15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15434"/>
            <a:ext cx="5714048" cy="620078"/>
          </a:xfrm>
          <a:prstGeom prst="rect">
            <a:avLst/>
          </a:prstGeom>
          <a:noFill/>
          <a:ln/>
        </p:spPr>
        <p:txBody>
          <a:bodyPr wrap="none" lIns="0" tIns="0" rIns="0" bIns="0" rtlCol="0" anchor="t"/>
          <a:lstStyle/>
          <a:p>
            <a:pPr marL="0" indent="0" algn="l">
              <a:lnSpc>
                <a:spcPts val="4850"/>
              </a:lnSpc>
              <a:buNone/>
            </a:pPr>
            <a:r>
              <a:rPr lang="en-US" sz="3900" b="1">
                <a:solidFill>
                  <a:srgbClr val="333F70"/>
                </a:solidFill>
                <a:latin typeface="Unbounded Bold" pitchFamily="34" charset="0"/>
                <a:ea typeface="Unbounded Bold" pitchFamily="34" charset="-122"/>
                <a:cs typeface="Unbounded Bold" pitchFamily="34" charset="-120"/>
              </a:rPr>
              <a:t>Project Objectives</a:t>
            </a:r>
            <a:endParaRPr lang="en-US" sz="3900"/>
          </a:p>
        </p:txBody>
      </p:sp>
      <p:sp>
        <p:nvSpPr>
          <p:cNvPr id="3" name="Text 1"/>
          <p:cNvSpPr/>
          <p:nvPr/>
        </p:nvSpPr>
        <p:spPr>
          <a:xfrm>
            <a:off x="793790" y="1632347"/>
            <a:ext cx="13042821"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This research aims to systematically study the impact of prompt compression on hallucination rates in large language models. Through rigorous experimentation and evaluation, the project addresses several key questions about the relationship between prompt length and factual reliability.</a:t>
            </a:r>
            <a:endParaRPr lang="en-US" sz="1550"/>
          </a:p>
        </p:txBody>
      </p:sp>
      <p:sp>
        <p:nvSpPr>
          <p:cNvPr id="4" name="Text 2"/>
          <p:cNvSpPr/>
          <p:nvPr/>
        </p:nvSpPr>
        <p:spPr>
          <a:xfrm>
            <a:off x="793790" y="2808208"/>
            <a:ext cx="198358" cy="248007"/>
          </a:xfrm>
          <a:prstGeom prst="rect">
            <a:avLst/>
          </a:prstGeom>
          <a:noFill/>
          <a:ln/>
        </p:spPr>
        <p:txBody>
          <a:bodyPr wrap="none" lIns="0" tIns="0" rIns="0" bIns="0" rtlCol="0" anchor="t"/>
          <a:lstStyle/>
          <a:p>
            <a:pPr marL="0" indent="0" algn="l">
              <a:lnSpc>
                <a:spcPts val="2500"/>
              </a:lnSpc>
              <a:buNone/>
            </a:pPr>
            <a:r>
              <a:rPr lang="en-US" sz="1550">
                <a:solidFill>
                  <a:srgbClr val="333F70"/>
                </a:solidFill>
                <a:latin typeface="Unbounded Light" pitchFamily="34" charset="0"/>
                <a:ea typeface="Unbounded Light" pitchFamily="34" charset="-122"/>
                <a:cs typeface="Unbounded Light" pitchFamily="34" charset="-120"/>
              </a:rPr>
              <a:t>01</a:t>
            </a:r>
            <a:endParaRPr lang="en-US" sz="1550"/>
          </a:p>
        </p:txBody>
      </p:sp>
      <p:sp>
        <p:nvSpPr>
          <p:cNvPr id="5" name="Shape 3"/>
          <p:cNvSpPr/>
          <p:nvPr/>
        </p:nvSpPr>
        <p:spPr>
          <a:xfrm>
            <a:off x="793790" y="3122533"/>
            <a:ext cx="4215289" cy="22860"/>
          </a:xfrm>
          <a:prstGeom prst="rect">
            <a:avLst/>
          </a:prstGeom>
          <a:solidFill>
            <a:srgbClr val="26A688"/>
          </a:solidFill>
          <a:ln/>
        </p:spPr>
      </p:sp>
      <p:sp>
        <p:nvSpPr>
          <p:cNvPr id="6" name="Text 4"/>
          <p:cNvSpPr/>
          <p:nvPr/>
        </p:nvSpPr>
        <p:spPr>
          <a:xfrm>
            <a:off x="793790" y="3267432"/>
            <a:ext cx="4215289" cy="620316"/>
          </a:xfrm>
          <a:prstGeom prst="rect">
            <a:avLst/>
          </a:prstGeom>
          <a:noFill/>
          <a:ln/>
        </p:spPr>
        <p:txBody>
          <a:bodyPr wrap="squar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Analyse Hallucination Behaviour</a:t>
            </a:r>
            <a:endParaRPr lang="en-US" sz="1950"/>
          </a:p>
        </p:txBody>
      </p:sp>
      <p:sp>
        <p:nvSpPr>
          <p:cNvPr id="7" name="Text 5"/>
          <p:cNvSpPr/>
          <p:nvPr/>
        </p:nvSpPr>
        <p:spPr>
          <a:xfrm>
            <a:off x="793790" y="4006810"/>
            <a:ext cx="4215289" cy="127015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Investigate how frequently language models generate unsupported or incorrect information when answering questions across diverse contexts</a:t>
            </a:r>
            <a:endParaRPr lang="en-US" sz="1550"/>
          </a:p>
        </p:txBody>
      </p:sp>
      <p:sp>
        <p:nvSpPr>
          <p:cNvPr id="8" name="Text 6"/>
          <p:cNvSpPr/>
          <p:nvPr/>
        </p:nvSpPr>
        <p:spPr>
          <a:xfrm>
            <a:off x="5207437" y="2808208"/>
            <a:ext cx="198358" cy="248007"/>
          </a:xfrm>
          <a:prstGeom prst="rect">
            <a:avLst/>
          </a:prstGeom>
          <a:noFill/>
          <a:ln/>
        </p:spPr>
        <p:txBody>
          <a:bodyPr wrap="none" lIns="0" tIns="0" rIns="0" bIns="0" rtlCol="0" anchor="t"/>
          <a:lstStyle/>
          <a:p>
            <a:pPr marL="0" indent="0" algn="l">
              <a:lnSpc>
                <a:spcPts val="2500"/>
              </a:lnSpc>
              <a:buNone/>
            </a:pPr>
            <a:r>
              <a:rPr lang="en-US" sz="1550">
                <a:solidFill>
                  <a:srgbClr val="333F70"/>
                </a:solidFill>
                <a:latin typeface="Unbounded Light" pitchFamily="34" charset="0"/>
                <a:ea typeface="Unbounded Light" pitchFamily="34" charset="-122"/>
                <a:cs typeface="Unbounded Light" pitchFamily="34" charset="-120"/>
              </a:rPr>
              <a:t>02</a:t>
            </a:r>
            <a:endParaRPr lang="en-US" sz="1550"/>
          </a:p>
        </p:txBody>
      </p:sp>
      <p:sp>
        <p:nvSpPr>
          <p:cNvPr id="9" name="Shape 7"/>
          <p:cNvSpPr/>
          <p:nvPr/>
        </p:nvSpPr>
        <p:spPr>
          <a:xfrm>
            <a:off x="5207437" y="3122533"/>
            <a:ext cx="4215408" cy="22860"/>
          </a:xfrm>
          <a:prstGeom prst="rect">
            <a:avLst/>
          </a:prstGeom>
          <a:solidFill>
            <a:srgbClr val="26A688"/>
          </a:solidFill>
          <a:ln/>
        </p:spPr>
      </p:sp>
      <p:sp>
        <p:nvSpPr>
          <p:cNvPr id="10" name="Text 8"/>
          <p:cNvSpPr/>
          <p:nvPr/>
        </p:nvSpPr>
        <p:spPr>
          <a:xfrm>
            <a:off x="5207437" y="3267432"/>
            <a:ext cx="4215408" cy="620316"/>
          </a:xfrm>
          <a:prstGeom prst="rect">
            <a:avLst/>
          </a:prstGeom>
          <a:noFill/>
          <a:ln/>
        </p:spPr>
        <p:txBody>
          <a:bodyPr wrap="squar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Implement Compression Pipeline</a:t>
            </a:r>
            <a:endParaRPr lang="en-US" sz="1950"/>
          </a:p>
        </p:txBody>
      </p:sp>
      <p:sp>
        <p:nvSpPr>
          <p:cNvPr id="11" name="Text 9"/>
          <p:cNvSpPr/>
          <p:nvPr/>
        </p:nvSpPr>
        <p:spPr>
          <a:xfrm>
            <a:off x="5207437" y="4006810"/>
            <a:ext cx="4215408" cy="127015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Develop an automated prompt compression system using advanced techniques to reduce prompt length whilst preserving semantic meaning</a:t>
            </a:r>
            <a:endParaRPr lang="en-US" sz="1550"/>
          </a:p>
        </p:txBody>
      </p:sp>
      <p:sp>
        <p:nvSpPr>
          <p:cNvPr id="12" name="Text 10"/>
          <p:cNvSpPr/>
          <p:nvPr/>
        </p:nvSpPr>
        <p:spPr>
          <a:xfrm>
            <a:off x="9621203" y="2808208"/>
            <a:ext cx="198358" cy="248007"/>
          </a:xfrm>
          <a:prstGeom prst="rect">
            <a:avLst/>
          </a:prstGeom>
          <a:noFill/>
          <a:ln/>
        </p:spPr>
        <p:txBody>
          <a:bodyPr wrap="none" lIns="0" tIns="0" rIns="0" bIns="0" rtlCol="0" anchor="t"/>
          <a:lstStyle/>
          <a:p>
            <a:pPr marL="0" indent="0" algn="l">
              <a:lnSpc>
                <a:spcPts val="2500"/>
              </a:lnSpc>
              <a:buNone/>
            </a:pPr>
            <a:r>
              <a:rPr lang="en-US" sz="1550">
                <a:solidFill>
                  <a:srgbClr val="333F70"/>
                </a:solidFill>
                <a:latin typeface="Unbounded Light" pitchFamily="34" charset="0"/>
                <a:ea typeface="Unbounded Light" pitchFamily="34" charset="-122"/>
                <a:cs typeface="Unbounded Light" pitchFamily="34" charset="-120"/>
              </a:rPr>
              <a:t>03</a:t>
            </a:r>
            <a:endParaRPr lang="en-US" sz="1550"/>
          </a:p>
        </p:txBody>
      </p:sp>
      <p:sp>
        <p:nvSpPr>
          <p:cNvPr id="13" name="Shape 11"/>
          <p:cNvSpPr/>
          <p:nvPr/>
        </p:nvSpPr>
        <p:spPr>
          <a:xfrm>
            <a:off x="9621203" y="3122533"/>
            <a:ext cx="4215289" cy="22860"/>
          </a:xfrm>
          <a:prstGeom prst="rect">
            <a:avLst/>
          </a:prstGeom>
          <a:solidFill>
            <a:srgbClr val="26A688"/>
          </a:solidFill>
          <a:ln/>
        </p:spPr>
      </p:sp>
      <p:sp>
        <p:nvSpPr>
          <p:cNvPr id="14" name="Text 12"/>
          <p:cNvSpPr/>
          <p:nvPr/>
        </p:nvSpPr>
        <p:spPr>
          <a:xfrm>
            <a:off x="9621203" y="3267432"/>
            <a:ext cx="4170283" cy="310158"/>
          </a:xfrm>
          <a:prstGeom prst="rect">
            <a:avLst/>
          </a:prstGeom>
          <a:noFill/>
          <a:ln/>
        </p:spPr>
        <p:txBody>
          <a:bodyPr wrap="non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Evaluate Response Quality</a:t>
            </a:r>
            <a:endParaRPr lang="en-US" sz="1950"/>
          </a:p>
        </p:txBody>
      </p:sp>
      <p:sp>
        <p:nvSpPr>
          <p:cNvPr id="15" name="Text 13"/>
          <p:cNvSpPr/>
          <p:nvPr/>
        </p:nvSpPr>
        <p:spPr>
          <a:xfrm>
            <a:off x="9621203" y="3696653"/>
            <a:ext cx="4215289"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Compare answers generated using original prompts versus compressed prompts across multiple quality dimensions</a:t>
            </a:r>
            <a:endParaRPr lang="en-US" sz="1550"/>
          </a:p>
        </p:txBody>
      </p:sp>
      <p:sp>
        <p:nvSpPr>
          <p:cNvPr id="16" name="Text 14"/>
          <p:cNvSpPr/>
          <p:nvPr/>
        </p:nvSpPr>
        <p:spPr>
          <a:xfrm>
            <a:off x="793790" y="5624155"/>
            <a:ext cx="198358" cy="248007"/>
          </a:xfrm>
          <a:prstGeom prst="rect">
            <a:avLst/>
          </a:prstGeom>
          <a:noFill/>
          <a:ln/>
        </p:spPr>
        <p:txBody>
          <a:bodyPr wrap="none" lIns="0" tIns="0" rIns="0" bIns="0" rtlCol="0" anchor="t"/>
          <a:lstStyle/>
          <a:p>
            <a:pPr marL="0" indent="0" algn="l">
              <a:lnSpc>
                <a:spcPts val="2500"/>
              </a:lnSpc>
              <a:buNone/>
            </a:pPr>
            <a:r>
              <a:rPr lang="en-US" sz="1550">
                <a:solidFill>
                  <a:srgbClr val="333F70"/>
                </a:solidFill>
                <a:latin typeface="Unbounded Light" pitchFamily="34" charset="0"/>
                <a:ea typeface="Unbounded Light" pitchFamily="34" charset="-122"/>
                <a:cs typeface="Unbounded Light" pitchFamily="34" charset="-120"/>
              </a:rPr>
              <a:t>04</a:t>
            </a:r>
            <a:endParaRPr lang="en-US" sz="1550"/>
          </a:p>
        </p:txBody>
      </p:sp>
      <p:sp>
        <p:nvSpPr>
          <p:cNvPr id="17" name="Shape 15"/>
          <p:cNvSpPr/>
          <p:nvPr/>
        </p:nvSpPr>
        <p:spPr>
          <a:xfrm>
            <a:off x="793790" y="5938480"/>
            <a:ext cx="6422112" cy="22860"/>
          </a:xfrm>
          <a:prstGeom prst="rect">
            <a:avLst/>
          </a:prstGeom>
          <a:solidFill>
            <a:srgbClr val="26A688"/>
          </a:solidFill>
          <a:ln/>
        </p:spPr>
      </p:sp>
      <p:sp>
        <p:nvSpPr>
          <p:cNvPr id="18" name="Text 16"/>
          <p:cNvSpPr/>
          <p:nvPr/>
        </p:nvSpPr>
        <p:spPr>
          <a:xfrm>
            <a:off x="793790" y="6083379"/>
            <a:ext cx="3702844" cy="310158"/>
          </a:xfrm>
          <a:prstGeom prst="rect">
            <a:avLst/>
          </a:prstGeom>
          <a:noFill/>
          <a:ln/>
        </p:spPr>
        <p:txBody>
          <a:bodyPr wrap="non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Measure Hallucinations</a:t>
            </a:r>
            <a:endParaRPr lang="en-US" sz="1950"/>
          </a:p>
        </p:txBody>
      </p:sp>
      <p:sp>
        <p:nvSpPr>
          <p:cNvPr id="19" name="Text 17"/>
          <p:cNvSpPr/>
          <p:nvPr/>
        </p:nvSpPr>
        <p:spPr>
          <a:xfrm>
            <a:off x="793790" y="6512600"/>
            <a:ext cx="6422112"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Deploy automated metrics using Natural Language Inference techniques to determine whether generated answers are supported by context</a:t>
            </a:r>
            <a:endParaRPr lang="en-US" sz="1550"/>
          </a:p>
        </p:txBody>
      </p:sp>
      <p:sp>
        <p:nvSpPr>
          <p:cNvPr id="20" name="Text 18"/>
          <p:cNvSpPr/>
          <p:nvPr/>
        </p:nvSpPr>
        <p:spPr>
          <a:xfrm>
            <a:off x="7414260" y="5624155"/>
            <a:ext cx="198358" cy="248007"/>
          </a:xfrm>
          <a:prstGeom prst="rect">
            <a:avLst/>
          </a:prstGeom>
          <a:noFill/>
          <a:ln/>
        </p:spPr>
        <p:txBody>
          <a:bodyPr wrap="none" lIns="0" tIns="0" rIns="0" bIns="0" rtlCol="0" anchor="t"/>
          <a:lstStyle/>
          <a:p>
            <a:pPr marL="0" indent="0" algn="l">
              <a:lnSpc>
                <a:spcPts val="2500"/>
              </a:lnSpc>
              <a:buNone/>
            </a:pPr>
            <a:r>
              <a:rPr lang="en-US" sz="1550">
                <a:solidFill>
                  <a:srgbClr val="333F70"/>
                </a:solidFill>
                <a:latin typeface="Unbounded Light" pitchFamily="34" charset="0"/>
                <a:ea typeface="Unbounded Light" pitchFamily="34" charset="-122"/>
                <a:cs typeface="Unbounded Light" pitchFamily="34" charset="-120"/>
              </a:rPr>
              <a:t>05</a:t>
            </a:r>
            <a:endParaRPr lang="en-US" sz="1550"/>
          </a:p>
        </p:txBody>
      </p:sp>
      <p:sp>
        <p:nvSpPr>
          <p:cNvPr id="21" name="Shape 19"/>
          <p:cNvSpPr/>
          <p:nvPr/>
        </p:nvSpPr>
        <p:spPr>
          <a:xfrm>
            <a:off x="7414260" y="5938480"/>
            <a:ext cx="6422231" cy="22860"/>
          </a:xfrm>
          <a:prstGeom prst="rect">
            <a:avLst/>
          </a:prstGeom>
          <a:solidFill>
            <a:srgbClr val="26A688"/>
          </a:solidFill>
          <a:ln/>
        </p:spPr>
      </p:sp>
      <p:sp>
        <p:nvSpPr>
          <p:cNvPr id="22" name="Text 20"/>
          <p:cNvSpPr/>
          <p:nvPr/>
        </p:nvSpPr>
        <p:spPr>
          <a:xfrm>
            <a:off x="7414260" y="6083379"/>
            <a:ext cx="4594146" cy="310158"/>
          </a:xfrm>
          <a:prstGeom prst="rect">
            <a:avLst/>
          </a:prstGeom>
          <a:noFill/>
          <a:ln/>
        </p:spPr>
        <p:txBody>
          <a:bodyPr wrap="non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Study Prompt Length Effects</a:t>
            </a:r>
            <a:endParaRPr lang="en-US" sz="1950"/>
          </a:p>
        </p:txBody>
      </p:sp>
      <p:sp>
        <p:nvSpPr>
          <p:cNvPr id="23" name="Text 21"/>
          <p:cNvSpPr/>
          <p:nvPr/>
        </p:nvSpPr>
        <p:spPr>
          <a:xfrm>
            <a:off x="7414260" y="6512600"/>
            <a:ext cx="6422231" cy="63507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Analyse whether prompt compression effectiveness varies between large prompts compared to small prompts</a:t>
            </a:r>
            <a:endParaRPr lang="en-US" sz="15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561261"/>
            <a:ext cx="6678573" cy="620078"/>
          </a:xfrm>
          <a:prstGeom prst="rect">
            <a:avLst/>
          </a:prstGeom>
          <a:noFill/>
          <a:ln/>
        </p:spPr>
        <p:txBody>
          <a:bodyPr wrap="none" lIns="0" tIns="0" rIns="0" bIns="0" rtlCol="0" anchor="t"/>
          <a:lstStyle/>
          <a:p>
            <a:pPr marL="0" indent="0" algn="l">
              <a:lnSpc>
                <a:spcPts val="4850"/>
              </a:lnSpc>
              <a:buNone/>
            </a:pPr>
            <a:r>
              <a:rPr lang="en-US" sz="3900" b="1">
                <a:solidFill>
                  <a:srgbClr val="333F70"/>
                </a:solidFill>
                <a:latin typeface="Unbounded Bold" pitchFamily="34" charset="0"/>
                <a:ea typeface="Unbounded Bold" pitchFamily="34" charset="-122"/>
                <a:cs typeface="Unbounded Bold" pitchFamily="34" charset="-120"/>
              </a:rPr>
              <a:t>Technical Framework</a:t>
            </a:r>
            <a:endParaRPr lang="en-US" sz="3900"/>
          </a:p>
        </p:txBody>
      </p:sp>
      <p:sp>
        <p:nvSpPr>
          <p:cNvPr id="3" name="Text 1"/>
          <p:cNvSpPr/>
          <p:nvPr/>
        </p:nvSpPr>
        <p:spPr>
          <a:xfrm>
            <a:off x="793790" y="1677353"/>
            <a:ext cx="3411855" cy="372070"/>
          </a:xfrm>
          <a:prstGeom prst="rect">
            <a:avLst/>
          </a:prstGeom>
          <a:noFill/>
          <a:ln/>
        </p:spPr>
        <p:txBody>
          <a:bodyPr wrap="none" lIns="0" tIns="0" rIns="0" bIns="0" rtlCol="0" anchor="t"/>
          <a:lstStyle/>
          <a:p>
            <a:pPr marL="0" indent="0" algn="l">
              <a:lnSpc>
                <a:spcPts val="2900"/>
              </a:lnSpc>
              <a:buNone/>
            </a:pPr>
            <a:r>
              <a:rPr lang="en-US" sz="2300" b="1">
                <a:solidFill>
                  <a:srgbClr val="333F70"/>
                </a:solidFill>
                <a:latin typeface="Unbounded Bold" pitchFamily="34" charset="0"/>
                <a:ea typeface="Unbounded Bold" pitchFamily="34" charset="-122"/>
                <a:cs typeface="Unbounded Bold" pitchFamily="34" charset="-120"/>
              </a:rPr>
              <a:t>Core Technologies</a:t>
            </a:r>
            <a:endParaRPr lang="en-US" sz="2300"/>
          </a:p>
        </p:txBody>
      </p:sp>
      <p:sp>
        <p:nvSpPr>
          <p:cNvPr id="4" name="Text 2"/>
          <p:cNvSpPr/>
          <p:nvPr/>
        </p:nvSpPr>
        <p:spPr>
          <a:xfrm>
            <a:off x="793790" y="2247781"/>
            <a:ext cx="6279356" cy="1587698"/>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The project leverages modern machine learning frameworks and specialised tools to implement the experimental pipeline. </a:t>
            </a:r>
            <a:r>
              <a:rPr lang="en-US" sz="1550" b="1">
                <a:solidFill>
                  <a:srgbClr val="333F70"/>
                </a:solidFill>
                <a:latin typeface="Open Sans" pitchFamily="34" charset="0"/>
                <a:ea typeface="Open Sans" pitchFamily="34" charset="-122"/>
                <a:cs typeface="Open Sans" pitchFamily="34" charset="-120"/>
              </a:rPr>
              <a:t>Python</a:t>
            </a:r>
            <a:r>
              <a:rPr lang="en-US" sz="1550">
                <a:solidFill>
                  <a:srgbClr val="333F70"/>
                </a:solidFill>
                <a:latin typeface="Open Sans" pitchFamily="34" charset="0"/>
                <a:ea typeface="Open Sans" pitchFamily="34" charset="-122"/>
                <a:cs typeface="Open Sans" pitchFamily="34" charset="-120"/>
              </a:rPr>
              <a:t> serves as the primary programming language, selected for its extensive ecosystem of machine learning libraries and natural language processing tools.</a:t>
            </a:r>
            <a:endParaRPr lang="en-US" sz="1550"/>
          </a:p>
        </p:txBody>
      </p:sp>
      <p:sp>
        <p:nvSpPr>
          <p:cNvPr id="5" name="Text 3"/>
          <p:cNvSpPr/>
          <p:nvPr/>
        </p:nvSpPr>
        <p:spPr>
          <a:xfrm>
            <a:off x="793790" y="4014073"/>
            <a:ext cx="6279356"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The </a:t>
            </a:r>
            <a:r>
              <a:rPr lang="en-US" sz="1550" b="1">
                <a:solidFill>
                  <a:srgbClr val="333F70"/>
                </a:solidFill>
                <a:latin typeface="Open Sans" pitchFamily="34" charset="0"/>
                <a:ea typeface="Open Sans" pitchFamily="34" charset="-122"/>
                <a:cs typeface="Open Sans" pitchFamily="34" charset="-120"/>
              </a:rPr>
              <a:t>Hugging Face ecosystem</a:t>
            </a:r>
            <a:r>
              <a:rPr lang="en-US" sz="1550">
                <a:solidFill>
                  <a:srgbClr val="333F70"/>
                </a:solidFill>
                <a:latin typeface="Open Sans" pitchFamily="34" charset="0"/>
                <a:ea typeface="Open Sans" pitchFamily="34" charset="-122"/>
                <a:cs typeface="Open Sans" pitchFamily="34" charset="-120"/>
              </a:rPr>
              <a:t> provides streamlined access to pretrained language models, tokenisers, and evaluation frameworks, enabling rapid prototyping and experimentation.</a:t>
            </a:r>
            <a:endParaRPr lang="en-US" sz="1550"/>
          </a:p>
        </p:txBody>
      </p:sp>
      <p:sp>
        <p:nvSpPr>
          <p:cNvPr id="6" name="Text 4"/>
          <p:cNvSpPr/>
          <p:nvPr/>
        </p:nvSpPr>
        <p:spPr>
          <a:xfrm>
            <a:off x="7564874" y="1677353"/>
            <a:ext cx="4660106" cy="372070"/>
          </a:xfrm>
          <a:prstGeom prst="rect">
            <a:avLst/>
          </a:prstGeom>
          <a:noFill/>
          <a:ln/>
        </p:spPr>
        <p:txBody>
          <a:bodyPr wrap="none" lIns="0" tIns="0" rIns="0" bIns="0" rtlCol="0" anchor="t"/>
          <a:lstStyle/>
          <a:p>
            <a:pPr marL="0" indent="0" algn="l">
              <a:lnSpc>
                <a:spcPts val="2900"/>
              </a:lnSpc>
              <a:buNone/>
            </a:pPr>
            <a:r>
              <a:rPr lang="en-US" sz="2300" b="1">
                <a:solidFill>
                  <a:srgbClr val="333F70"/>
                </a:solidFill>
                <a:latin typeface="Unbounded Bold" pitchFamily="34" charset="0"/>
                <a:ea typeface="Unbounded Bold" pitchFamily="34" charset="-122"/>
                <a:cs typeface="Unbounded Bold" pitchFamily="34" charset="-120"/>
              </a:rPr>
              <a:t>Specialised Components</a:t>
            </a:r>
            <a:endParaRPr lang="en-US" sz="2300"/>
          </a:p>
        </p:txBody>
      </p:sp>
      <p:sp>
        <p:nvSpPr>
          <p:cNvPr id="7" name="Text 5"/>
          <p:cNvSpPr/>
          <p:nvPr/>
        </p:nvSpPr>
        <p:spPr>
          <a:xfrm>
            <a:off x="7564874" y="2247781"/>
            <a:ext cx="6279356" cy="952619"/>
          </a:xfrm>
          <a:prstGeom prst="rect">
            <a:avLst/>
          </a:prstGeom>
          <a:noFill/>
          <a:ln/>
        </p:spPr>
        <p:txBody>
          <a:bodyPr wrap="square" lIns="0" tIns="0" rIns="0" bIns="0" rtlCol="0" anchor="t"/>
          <a:lstStyle/>
          <a:p>
            <a:pPr marL="0" indent="0" algn="l">
              <a:lnSpc>
                <a:spcPts val="2500"/>
              </a:lnSpc>
              <a:buNone/>
            </a:pPr>
            <a:r>
              <a:rPr lang="en-US" sz="1550" b="1">
                <a:solidFill>
                  <a:srgbClr val="333F70"/>
                </a:solidFill>
                <a:latin typeface="Open Sans" pitchFamily="34" charset="0"/>
                <a:ea typeface="Open Sans" pitchFamily="34" charset="-122"/>
                <a:cs typeface="Open Sans" pitchFamily="34" charset="-120"/>
              </a:rPr>
              <a:t>LLMLingua</a:t>
            </a:r>
            <a:r>
              <a:rPr lang="en-US" sz="1550">
                <a:solidFill>
                  <a:srgbClr val="333F70"/>
                </a:solidFill>
                <a:latin typeface="Open Sans" pitchFamily="34" charset="0"/>
                <a:ea typeface="Open Sans" pitchFamily="34" charset="-122"/>
                <a:cs typeface="Open Sans" pitchFamily="34" charset="-120"/>
              </a:rPr>
              <a:t> serves as the prompt compression framework, designed specifically to reduce prompt length whilst preserving critical semantic information through intelligent token removal.</a:t>
            </a:r>
            <a:endParaRPr lang="en-US" sz="1550"/>
          </a:p>
        </p:txBody>
      </p:sp>
      <p:sp>
        <p:nvSpPr>
          <p:cNvPr id="8" name="Text 6"/>
          <p:cNvSpPr/>
          <p:nvPr/>
        </p:nvSpPr>
        <p:spPr>
          <a:xfrm>
            <a:off x="7564874" y="3378994"/>
            <a:ext cx="6279356" cy="952619"/>
          </a:xfrm>
          <a:prstGeom prst="rect">
            <a:avLst/>
          </a:prstGeom>
          <a:noFill/>
          <a:ln/>
        </p:spPr>
        <p:txBody>
          <a:bodyPr wrap="square" lIns="0" tIns="0" rIns="0" bIns="0" rtlCol="0" anchor="t"/>
          <a:lstStyle/>
          <a:p>
            <a:pPr marL="0" indent="0" algn="l">
              <a:lnSpc>
                <a:spcPts val="2500"/>
              </a:lnSpc>
              <a:buNone/>
            </a:pPr>
            <a:r>
              <a:rPr lang="en-US" sz="1550" b="1">
                <a:solidFill>
                  <a:srgbClr val="333F70"/>
                </a:solidFill>
                <a:latin typeface="Open Sans" pitchFamily="34" charset="0"/>
                <a:ea typeface="Open Sans" pitchFamily="34" charset="-122"/>
                <a:cs typeface="Open Sans" pitchFamily="34" charset="-120"/>
              </a:rPr>
              <a:t>RoBERTa-large-MNLI</a:t>
            </a:r>
            <a:r>
              <a:rPr lang="en-US" sz="1550">
                <a:solidFill>
                  <a:srgbClr val="333F70"/>
                </a:solidFill>
                <a:latin typeface="Open Sans" pitchFamily="34" charset="0"/>
                <a:ea typeface="Open Sans" pitchFamily="34" charset="-122"/>
                <a:cs typeface="Open Sans" pitchFamily="34" charset="-120"/>
              </a:rPr>
              <a:t> acts as the hallucination detection model, employing Natural Language Inference to verify whether generated answers logically follow from the provided context.</a:t>
            </a:r>
            <a:endParaRPr lang="en-US" sz="1550"/>
          </a:p>
        </p:txBody>
      </p:sp>
      <p:sp>
        <p:nvSpPr>
          <p:cNvPr id="9" name="Shape 7"/>
          <p:cNvSpPr/>
          <p:nvPr/>
        </p:nvSpPr>
        <p:spPr>
          <a:xfrm>
            <a:off x="793790" y="5368528"/>
            <a:ext cx="4215289" cy="2299811"/>
          </a:xfrm>
          <a:prstGeom prst="roundRect">
            <a:avLst>
              <a:gd name="adj" fmla="val 3625"/>
            </a:avLst>
          </a:prstGeom>
          <a:solidFill>
            <a:srgbClr val="D6F5EE"/>
          </a:solidFill>
          <a:ln w="7620">
            <a:solidFill>
              <a:srgbClr val="BCDBD4"/>
            </a:solidFill>
            <a:prstDash val="solid"/>
          </a:ln>
        </p:spPr>
      </p:sp>
      <p:sp>
        <p:nvSpPr>
          <p:cNvPr id="10" name="Text 8"/>
          <p:cNvSpPr/>
          <p:nvPr/>
        </p:nvSpPr>
        <p:spPr>
          <a:xfrm>
            <a:off x="999768" y="5574506"/>
            <a:ext cx="2779990" cy="310158"/>
          </a:xfrm>
          <a:prstGeom prst="rect">
            <a:avLst/>
          </a:prstGeom>
          <a:noFill/>
          <a:ln/>
        </p:spPr>
        <p:txBody>
          <a:bodyPr wrap="non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Language Models</a:t>
            </a:r>
            <a:endParaRPr lang="en-US" sz="1950"/>
          </a:p>
        </p:txBody>
      </p:sp>
      <p:sp>
        <p:nvSpPr>
          <p:cNvPr id="11" name="Text 9"/>
          <p:cNvSpPr/>
          <p:nvPr/>
        </p:nvSpPr>
        <p:spPr>
          <a:xfrm>
            <a:off x="999768" y="6003727"/>
            <a:ext cx="3803333" cy="704493"/>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333F70"/>
                </a:solidFill>
                <a:latin typeface="Open Sans" pitchFamily="34" charset="0"/>
                <a:ea typeface="Open Sans" pitchFamily="34" charset="-122"/>
                <a:cs typeface="Open Sans" pitchFamily="34" charset="-120"/>
              </a:rPr>
              <a:t>TinyLlama</a:t>
            </a:r>
            <a:endParaRPr lang="en-US" sz="1550"/>
          </a:p>
          <a:p>
            <a:pPr marL="342900" indent="-342900" algn="l">
              <a:lnSpc>
                <a:spcPts val="2500"/>
              </a:lnSpc>
              <a:buSzPct val="100000"/>
              <a:buChar char="•"/>
            </a:pPr>
            <a:r>
              <a:rPr lang="en-US" sz="1550">
                <a:solidFill>
                  <a:srgbClr val="333F70"/>
                </a:solidFill>
                <a:latin typeface="Open Sans" pitchFamily="34" charset="0"/>
                <a:ea typeface="Open Sans" pitchFamily="34" charset="-122"/>
                <a:cs typeface="Open Sans" pitchFamily="34" charset="-120"/>
              </a:rPr>
              <a:t>Phi-3 Mini</a:t>
            </a:r>
            <a:endParaRPr lang="en-US" sz="1550"/>
          </a:p>
        </p:txBody>
      </p:sp>
      <p:sp>
        <p:nvSpPr>
          <p:cNvPr id="12" name="Text 10"/>
          <p:cNvSpPr/>
          <p:nvPr/>
        </p:nvSpPr>
        <p:spPr>
          <a:xfrm>
            <a:off x="999768" y="6827282"/>
            <a:ext cx="3803333" cy="63507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Lightweight, efficient models capable of reasoning tasks</a:t>
            </a:r>
            <a:endParaRPr lang="en-US" sz="1550"/>
          </a:p>
        </p:txBody>
      </p:sp>
      <p:sp>
        <p:nvSpPr>
          <p:cNvPr id="13" name="Shape 11"/>
          <p:cNvSpPr/>
          <p:nvPr/>
        </p:nvSpPr>
        <p:spPr>
          <a:xfrm>
            <a:off x="5207437" y="5368528"/>
            <a:ext cx="4215408" cy="2299811"/>
          </a:xfrm>
          <a:prstGeom prst="roundRect">
            <a:avLst>
              <a:gd name="adj" fmla="val 3625"/>
            </a:avLst>
          </a:prstGeom>
          <a:solidFill>
            <a:srgbClr val="D6F5EE"/>
          </a:solidFill>
          <a:ln w="7620">
            <a:solidFill>
              <a:srgbClr val="BCDBD4"/>
            </a:solidFill>
            <a:prstDash val="solid"/>
          </a:ln>
        </p:spPr>
      </p:sp>
      <p:sp>
        <p:nvSpPr>
          <p:cNvPr id="14" name="Text 12"/>
          <p:cNvSpPr/>
          <p:nvPr/>
        </p:nvSpPr>
        <p:spPr>
          <a:xfrm>
            <a:off x="5413415" y="5574506"/>
            <a:ext cx="3803452" cy="620316"/>
          </a:xfrm>
          <a:prstGeom prst="rect">
            <a:avLst/>
          </a:prstGeom>
          <a:noFill/>
          <a:ln/>
        </p:spPr>
        <p:txBody>
          <a:bodyPr wrap="squar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Compression Framework</a:t>
            </a:r>
            <a:endParaRPr lang="en-US" sz="1950"/>
          </a:p>
        </p:txBody>
      </p:sp>
      <p:sp>
        <p:nvSpPr>
          <p:cNvPr id="15" name="Text 13"/>
          <p:cNvSpPr/>
          <p:nvPr/>
        </p:nvSpPr>
        <p:spPr>
          <a:xfrm>
            <a:off x="5413415" y="6313884"/>
            <a:ext cx="3803452" cy="63507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LLMLingua for intelligent prompt length reduction</a:t>
            </a:r>
            <a:endParaRPr lang="en-US" sz="1550"/>
          </a:p>
        </p:txBody>
      </p:sp>
      <p:sp>
        <p:nvSpPr>
          <p:cNvPr id="16" name="Shape 14"/>
          <p:cNvSpPr/>
          <p:nvPr/>
        </p:nvSpPr>
        <p:spPr>
          <a:xfrm>
            <a:off x="9621203" y="5368528"/>
            <a:ext cx="4215289" cy="2299811"/>
          </a:xfrm>
          <a:prstGeom prst="roundRect">
            <a:avLst>
              <a:gd name="adj" fmla="val 3625"/>
            </a:avLst>
          </a:prstGeom>
          <a:solidFill>
            <a:srgbClr val="D6F5EE"/>
          </a:solidFill>
          <a:ln w="7620">
            <a:solidFill>
              <a:srgbClr val="BCDBD4"/>
            </a:solidFill>
            <a:prstDash val="solid"/>
          </a:ln>
        </p:spPr>
      </p:sp>
      <p:sp>
        <p:nvSpPr>
          <p:cNvPr id="17" name="Text 15"/>
          <p:cNvSpPr/>
          <p:nvPr/>
        </p:nvSpPr>
        <p:spPr>
          <a:xfrm>
            <a:off x="9827181" y="5574506"/>
            <a:ext cx="2701647" cy="310158"/>
          </a:xfrm>
          <a:prstGeom prst="rect">
            <a:avLst/>
          </a:prstGeom>
          <a:noFill/>
          <a:ln/>
        </p:spPr>
        <p:txBody>
          <a:bodyPr wrap="non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Evaluation Model</a:t>
            </a:r>
            <a:endParaRPr lang="en-US" sz="1950"/>
          </a:p>
        </p:txBody>
      </p:sp>
      <p:sp>
        <p:nvSpPr>
          <p:cNvPr id="18" name="Text 16"/>
          <p:cNvSpPr/>
          <p:nvPr/>
        </p:nvSpPr>
        <p:spPr>
          <a:xfrm>
            <a:off x="9827181" y="6003727"/>
            <a:ext cx="3803333" cy="63507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RoBERTa-large-MNLI for NLI-based hallucination detection</a:t>
            </a:r>
            <a:endParaRPr lang="en-US" sz="15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34472" y="1110615"/>
            <a:ext cx="4381381" cy="417552"/>
          </a:xfrm>
          <a:prstGeom prst="rect">
            <a:avLst/>
          </a:prstGeom>
          <a:noFill/>
          <a:ln/>
        </p:spPr>
        <p:txBody>
          <a:bodyPr wrap="none" lIns="0" tIns="0" rIns="0" bIns="0" rtlCol="0" anchor="t"/>
          <a:lstStyle/>
          <a:p>
            <a:pPr marL="0" indent="0" algn="l">
              <a:lnSpc>
                <a:spcPts val="3250"/>
              </a:lnSpc>
              <a:buNone/>
            </a:pPr>
            <a:r>
              <a:rPr lang="en-US" sz="2600" b="1">
                <a:solidFill>
                  <a:srgbClr val="333F70"/>
                </a:solidFill>
                <a:latin typeface="Unbounded Bold" pitchFamily="34" charset="0"/>
                <a:ea typeface="Unbounded Bold" pitchFamily="34" charset="-122"/>
                <a:cs typeface="Unbounded Bold" pitchFamily="34" charset="-120"/>
              </a:rPr>
              <a:t>System Architecture</a:t>
            </a:r>
            <a:endParaRPr lang="en-US" sz="2600"/>
          </a:p>
        </p:txBody>
      </p:sp>
      <p:sp>
        <p:nvSpPr>
          <p:cNvPr id="4" name="Text 1"/>
          <p:cNvSpPr/>
          <p:nvPr/>
        </p:nvSpPr>
        <p:spPr>
          <a:xfrm>
            <a:off x="534472" y="1663065"/>
            <a:ext cx="8075057" cy="357426"/>
          </a:xfrm>
          <a:prstGeom prst="rect">
            <a:avLst/>
          </a:prstGeom>
          <a:noFill/>
          <a:ln/>
        </p:spPr>
        <p:txBody>
          <a:bodyPr wrap="squar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The experimental pipeline consists of six interconnected stages that systematically process input data, generate model responses, and evaluate hallucination behaviour. Each stage plays a crucial role in ensuring rigorous and reproducible experimentation.</a:t>
            </a:r>
            <a:endParaRPr lang="en-US" sz="1050"/>
          </a:p>
        </p:txBody>
      </p:sp>
      <p:pic>
        <p:nvPicPr>
          <p:cNvPr id="5" name="Image 1" descr="preencoded.png"/>
          <p:cNvPicPr>
            <a:picLocks noChangeAspect="1"/>
          </p:cNvPicPr>
          <p:nvPr/>
        </p:nvPicPr>
        <p:blipFill>
          <a:blip r:embed="rId4"/>
          <a:stretch>
            <a:fillRect/>
          </a:stretch>
        </p:blipFill>
        <p:spPr>
          <a:xfrm>
            <a:off x="534472" y="2121694"/>
            <a:ext cx="668179" cy="887254"/>
          </a:xfrm>
          <a:prstGeom prst="rect">
            <a:avLst/>
          </a:prstGeom>
        </p:spPr>
      </p:pic>
      <p:sp>
        <p:nvSpPr>
          <p:cNvPr id="6" name="Text 2"/>
          <p:cNvSpPr/>
          <p:nvPr/>
        </p:nvSpPr>
        <p:spPr>
          <a:xfrm>
            <a:off x="1292542" y="2255282"/>
            <a:ext cx="1767840"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Dataset Loading</a:t>
            </a:r>
            <a:endParaRPr lang="en-US" sz="1300"/>
          </a:p>
        </p:txBody>
      </p:sp>
      <p:sp>
        <p:nvSpPr>
          <p:cNvPr id="7" name="Text 3"/>
          <p:cNvSpPr/>
          <p:nvPr/>
        </p:nvSpPr>
        <p:spPr>
          <a:xfrm>
            <a:off x="1292542" y="2517934"/>
            <a:ext cx="7316986" cy="357426"/>
          </a:xfrm>
          <a:prstGeom prst="rect">
            <a:avLst/>
          </a:prstGeom>
          <a:noFill/>
          <a:ln/>
        </p:spPr>
        <p:txBody>
          <a:bodyPr wrap="squar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Question answering datasets loaded and structured into samples containing context, question, and ground truth answer</a:t>
            </a:r>
            <a:endParaRPr lang="en-US" sz="1050"/>
          </a:p>
        </p:txBody>
      </p:sp>
      <p:pic>
        <p:nvPicPr>
          <p:cNvPr id="8" name="Image 2" descr="preencoded.png"/>
          <p:cNvPicPr>
            <a:picLocks noChangeAspect="1"/>
          </p:cNvPicPr>
          <p:nvPr/>
        </p:nvPicPr>
        <p:blipFill>
          <a:blip r:embed="rId5"/>
          <a:stretch>
            <a:fillRect/>
          </a:stretch>
        </p:blipFill>
        <p:spPr>
          <a:xfrm>
            <a:off x="534472" y="3008948"/>
            <a:ext cx="668179" cy="801767"/>
          </a:xfrm>
          <a:prstGeom prst="rect">
            <a:avLst/>
          </a:prstGeom>
        </p:spPr>
      </p:pic>
      <p:sp>
        <p:nvSpPr>
          <p:cNvPr id="9" name="Text 4"/>
          <p:cNvSpPr/>
          <p:nvPr/>
        </p:nvSpPr>
        <p:spPr>
          <a:xfrm>
            <a:off x="1292542" y="3142536"/>
            <a:ext cx="2242066"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Prompt Construction</a:t>
            </a:r>
            <a:endParaRPr lang="en-US" sz="1300"/>
          </a:p>
        </p:txBody>
      </p:sp>
      <p:sp>
        <p:nvSpPr>
          <p:cNvPr id="10" name="Text 5"/>
          <p:cNvSpPr/>
          <p:nvPr/>
        </p:nvSpPr>
        <p:spPr>
          <a:xfrm>
            <a:off x="1292542" y="3405188"/>
            <a:ext cx="7316986"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Context and question combined into model-suitable format with clear instructions</a:t>
            </a:r>
            <a:endParaRPr lang="en-US" sz="1050"/>
          </a:p>
        </p:txBody>
      </p:sp>
      <p:pic>
        <p:nvPicPr>
          <p:cNvPr id="11" name="Image 3" descr="preencoded.png"/>
          <p:cNvPicPr>
            <a:picLocks noChangeAspect="1"/>
          </p:cNvPicPr>
          <p:nvPr/>
        </p:nvPicPr>
        <p:blipFill>
          <a:blip r:embed="rId6"/>
          <a:stretch>
            <a:fillRect/>
          </a:stretch>
        </p:blipFill>
        <p:spPr>
          <a:xfrm>
            <a:off x="534472" y="3810714"/>
            <a:ext cx="668179" cy="801767"/>
          </a:xfrm>
          <a:prstGeom prst="rect">
            <a:avLst/>
          </a:prstGeom>
        </p:spPr>
      </p:pic>
      <p:sp>
        <p:nvSpPr>
          <p:cNvPr id="12" name="Text 6"/>
          <p:cNvSpPr/>
          <p:nvPr/>
        </p:nvSpPr>
        <p:spPr>
          <a:xfrm>
            <a:off x="1292542" y="3944303"/>
            <a:ext cx="2237661"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Prompt Compression</a:t>
            </a:r>
            <a:endParaRPr lang="en-US" sz="1300"/>
          </a:p>
        </p:txBody>
      </p:sp>
      <p:sp>
        <p:nvSpPr>
          <p:cNvPr id="13" name="Text 7"/>
          <p:cNvSpPr/>
          <p:nvPr/>
        </p:nvSpPr>
        <p:spPr>
          <a:xfrm>
            <a:off x="1292542" y="4206954"/>
            <a:ext cx="7316986"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Redundant tokens removed whilst preserving semantic information</a:t>
            </a:r>
            <a:endParaRPr lang="en-US" sz="1050"/>
          </a:p>
        </p:txBody>
      </p:sp>
      <p:pic>
        <p:nvPicPr>
          <p:cNvPr id="14" name="Image 4" descr="preencoded.png"/>
          <p:cNvPicPr>
            <a:picLocks noChangeAspect="1"/>
          </p:cNvPicPr>
          <p:nvPr/>
        </p:nvPicPr>
        <p:blipFill>
          <a:blip r:embed="rId7"/>
          <a:stretch>
            <a:fillRect/>
          </a:stretch>
        </p:blipFill>
        <p:spPr>
          <a:xfrm>
            <a:off x="534472" y="4713684"/>
            <a:ext cx="668179" cy="801767"/>
          </a:xfrm>
          <a:prstGeom prst="rect">
            <a:avLst/>
          </a:prstGeom>
        </p:spPr>
      </p:pic>
      <p:sp>
        <p:nvSpPr>
          <p:cNvPr id="15" name="Text 8"/>
          <p:cNvSpPr/>
          <p:nvPr/>
        </p:nvSpPr>
        <p:spPr>
          <a:xfrm>
            <a:off x="1292542" y="4847273"/>
            <a:ext cx="2030492"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Answer Generation</a:t>
            </a:r>
            <a:endParaRPr lang="en-US" sz="1300"/>
          </a:p>
        </p:txBody>
      </p:sp>
      <p:sp>
        <p:nvSpPr>
          <p:cNvPr id="16" name="Text 9"/>
          <p:cNvSpPr/>
          <p:nvPr/>
        </p:nvSpPr>
        <p:spPr>
          <a:xfrm>
            <a:off x="1292542" y="5109924"/>
            <a:ext cx="7316986"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Language model produces responses for both original and compressed prompts</a:t>
            </a:r>
            <a:endParaRPr lang="en-US" sz="1050"/>
          </a:p>
        </p:txBody>
      </p:sp>
      <p:pic>
        <p:nvPicPr>
          <p:cNvPr id="17" name="Image 5" descr="preencoded.png"/>
          <p:cNvPicPr>
            <a:picLocks noChangeAspect="1"/>
          </p:cNvPicPr>
          <p:nvPr/>
        </p:nvPicPr>
        <p:blipFill>
          <a:blip r:embed="rId8"/>
          <a:stretch>
            <a:fillRect/>
          </a:stretch>
        </p:blipFill>
        <p:spPr>
          <a:xfrm>
            <a:off x="534472" y="5515451"/>
            <a:ext cx="668179" cy="801767"/>
          </a:xfrm>
          <a:prstGeom prst="rect">
            <a:avLst/>
          </a:prstGeom>
        </p:spPr>
      </p:pic>
      <p:sp>
        <p:nvSpPr>
          <p:cNvPr id="18" name="Text 10"/>
          <p:cNvSpPr/>
          <p:nvPr/>
        </p:nvSpPr>
        <p:spPr>
          <a:xfrm>
            <a:off x="1292542" y="5649039"/>
            <a:ext cx="1670447"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Evaluation</a:t>
            </a:r>
            <a:endParaRPr lang="en-US" sz="1300"/>
          </a:p>
        </p:txBody>
      </p:sp>
      <p:sp>
        <p:nvSpPr>
          <p:cNvPr id="19" name="Text 11"/>
          <p:cNvSpPr/>
          <p:nvPr/>
        </p:nvSpPr>
        <p:spPr>
          <a:xfrm>
            <a:off x="1292542" y="5911691"/>
            <a:ext cx="7316986"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Multiple metrics applied: exact match, keyword matching, NLI support scores</a:t>
            </a:r>
            <a:endParaRPr lang="en-US" sz="1050"/>
          </a:p>
        </p:txBody>
      </p:sp>
      <p:pic>
        <p:nvPicPr>
          <p:cNvPr id="20" name="Image 6" descr="preencoded.png"/>
          <p:cNvPicPr>
            <a:picLocks noChangeAspect="1"/>
          </p:cNvPicPr>
          <p:nvPr/>
        </p:nvPicPr>
        <p:blipFill>
          <a:blip r:embed="rId9"/>
          <a:stretch>
            <a:fillRect/>
          </a:stretch>
        </p:blipFill>
        <p:spPr>
          <a:xfrm>
            <a:off x="534472" y="6317218"/>
            <a:ext cx="668179" cy="801767"/>
          </a:xfrm>
          <a:prstGeom prst="rect">
            <a:avLst/>
          </a:prstGeom>
        </p:spPr>
      </p:pic>
      <p:sp>
        <p:nvSpPr>
          <p:cNvPr id="21" name="Text 12"/>
          <p:cNvSpPr/>
          <p:nvPr/>
        </p:nvSpPr>
        <p:spPr>
          <a:xfrm>
            <a:off x="1292542" y="6450806"/>
            <a:ext cx="1670447"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Result Analysis</a:t>
            </a:r>
            <a:endParaRPr lang="en-US" sz="1300"/>
          </a:p>
        </p:txBody>
      </p:sp>
      <p:sp>
        <p:nvSpPr>
          <p:cNvPr id="22" name="Text 13"/>
          <p:cNvSpPr/>
          <p:nvPr/>
        </p:nvSpPr>
        <p:spPr>
          <a:xfrm>
            <a:off x="1292542" y="6713458"/>
            <a:ext cx="7316986"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Comparative analysis of hallucination rates between compressed and uncompressed prompts</a:t>
            </a:r>
            <a:endParaRPr lang="en-US"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diagram&#10;&#10;AI-generated content may be incorrect.">
            <a:extLst>
              <a:ext uri="{FF2B5EF4-FFF2-40B4-BE49-F238E27FC236}">
                <a16:creationId xmlns:a16="http://schemas.microsoft.com/office/drawing/2014/main" id="{72443BBA-2073-D1CF-8FE9-93E3F06750AA}"/>
              </a:ext>
            </a:extLst>
          </p:cNvPr>
          <p:cNvPicPr>
            <a:picLocks noChangeAspect="1"/>
          </p:cNvPicPr>
          <p:nvPr/>
        </p:nvPicPr>
        <p:blipFill>
          <a:blip r:embed="rId2"/>
          <a:stretch>
            <a:fillRect/>
          </a:stretch>
        </p:blipFill>
        <p:spPr>
          <a:xfrm>
            <a:off x="1556565" y="1461453"/>
            <a:ext cx="11502390" cy="6263640"/>
          </a:xfrm>
          <a:prstGeom prst="rect">
            <a:avLst/>
          </a:prstGeom>
        </p:spPr>
      </p:pic>
      <p:sp>
        <p:nvSpPr>
          <p:cNvPr id="6" name="Text 0">
            <a:extLst>
              <a:ext uri="{FF2B5EF4-FFF2-40B4-BE49-F238E27FC236}">
                <a16:creationId xmlns:a16="http://schemas.microsoft.com/office/drawing/2014/main" id="{99FFEBD0-5139-0C79-0A13-5561C921789C}"/>
              </a:ext>
            </a:extLst>
          </p:cNvPr>
          <p:cNvSpPr/>
          <p:nvPr/>
        </p:nvSpPr>
        <p:spPr>
          <a:xfrm>
            <a:off x="793790" y="561261"/>
            <a:ext cx="6678573" cy="620078"/>
          </a:xfrm>
          <a:prstGeom prst="rect">
            <a:avLst/>
          </a:prstGeom>
          <a:noFill/>
          <a:ln/>
        </p:spPr>
        <p:txBody>
          <a:bodyPr wrap="none" lIns="0" tIns="0" rIns="0" bIns="0" rtlCol="0" anchor="t"/>
          <a:lstStyle/>
          <a:p>
            <a:pPr>
              <a:lnSpc>
                <a:spcPts val="4850"/>
              </a:lnSpc>
            </a:pPr>
            <a:r>
              <a:rPr lang="en-US" sz="3900" b="1">
                <a:solidFill>
                  <a:srgbClr val="333F70"/>
                </a:solidFill>
                <a:latin typeface="Unbounded Bold"/>
                <a:ea typeface="Unbounded Bold"/>
              </a:rPr>
              <a:t>System Architecture Diagram</a:t>
            </a:r>
            <a:endParaRPr lang="en-US"/>
          </a:p>
        </p:txBody>
      </p:sp>
    </p:spTree>
    <p:extLst>
      <p:ext uri="{BB962C8B-B14F-4D97-AF65-F5344CB8AC3E}">
        <p14:creationId xmlns:p14="http://schemas.microsoft.com/office/powerpoint/2010/main" val="294660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22152" y="732949"/>
            <a:ext cx="6531769" cy="498634"/>
          </a:xfrm>
          <a:prstGeom prst="rect">
            <a:avLst/>
          </a:prstGeom>
          <a:noFill/>
          <a:ln/>
        </p:spPr>
        <p:txBody>
          <a:bodyPr wrap="none" lIns="0" tIns="0" rIns="0" bIns="0" rtlCol="0" anchor="t"/>
          <a:lstStyle/>
          <a:p>
            <a:pPr marL="0" indent="0" algn="l">
              <a:lnSpc>
                <a:spcPts val="3900"/>
              </a:lnSpc>
              <a:buNone/>
            </a:pPr>
            <a:r>
              <a:rPr lang="en-US" sz="3100" b="1">
                <a:solidFill>
                  <a:srgbClr val="333F70"/>
                </a:solidFill>
                <a:latin typeface="Unbounded Bold" pitchFamily="34" charset="0"/>
                <a:ea typeface="Unbounded Bold" pitchFamily="34" charset="-122"/>
                <a:cs typeface="Unbounded Bold" pitchFamily="34" charset="-120"/>
              </a:rPr>
              <a:t>Methodological Approach</a:t>
            </a:r>
            <a:endParaRPr lang="en-US" sz="3100"/>
          </a:p>
        </p:txBody>
      </p:sp>
      <p:sp>
        <p:nvSpPr>
          <p:cNvPr id="3" name="Text 1"/>
          <p:cNvSpPr/>
          <p:nvPr/>
        </p:nvSpPr>
        <p:spPr>
          <a:xfrm>
            <a:off x="1022152" y="1488281"/>
            <a:ext cx="12586097" cy="460772"/>
          </a:xfrm>
          <a:prstGeom prst="rect">
            <a:avLst/>
          </a:prstGeom>
          <a:noFill/>
          <a:ln/>
        </p:spPr>
        <p:txBody>
          <a:bodyPr wrap="square" lIns="0" tIns="0" rIns="0" bIns="0" rtlCol="0" anchor="t"/>
          <a:lstStyle/>
          <a:p>
            <a:pPr marL="0" indent="0" algn="l">
              <a:lnSpc>
                <a:spcPts val="1800"/>
              </a:lnSpc>
              <a:buNone/>
            </a:pPr>
            <a:r>
              <a:rPr lang="en-US" sz="1250">
                <a:solidFill>
                  <a:srgbClr val="333F70"/>
                </a:solidFill>
                <a:latin typeface="Open Sans" pitchFamily="34" charset="0"/>
                <a:ea typeface="Open Sans" pitchFamily="34" charset="-122"/>
                <a:cs typeface="Open Sans" pitchFamily="34" charset="-120"/>
              </a:rPr>
              <a:t>The research employs an experimental methodology designed to isolate the effect of prompt compression on hallucination rates. By systematically comparing model responses across compressed and uncompressed conditions, the study establishes causal relationships between prompt length and factual reliability.</a:t>
            </a:r>
            <a:endParaRPr lang="en-US" sz="1250"/>
          </a:p>
        </p:txBody>
      </p:sp>
      <p:sp>
        <p:nvSpPr>
          <p:cNvPr id="4" name="Shape 2"/>
          <p:cNvSpPr/>
          <p:nvPr/>
        </p:nvSpPr>
        <p:spPr>
          <a:xfrm>
            <a:off x="7303770" y="2093357"/>
            <a:ext cx="22860" cy="5403294"/>
          </a:xfrm>
          <a:prstGeom prst="roundRect">
            <a:avLst>
              <a:gd name="adj" fmla="val 293242"/>
            </a:avLst>
          </a:prstGeom>
          <a:solidFill>
            <a:srgbClr val="BCDBD4"/>
          </a:solidFill>
          <a:ln/>
        </p:spPr>
      </p:sp>
      <p:sp>
        <p:nvSpPr>
          <p:cNvPr id="5" name="Shape 3"/>
          <p:cNvSpPr/>
          <p:nvPr/>
        </p:nvSpPr>
        <p:spPr>
          <a:xfrm>
            <a:off x="6679763" y="2261473"/>
            <a:ext cx="478750" cy="22860"/>
          </a:xfrm>
          <a:prstGeom prst="roundRect">
            <a:avLst>
              <a:gd name="adj" fmla="val 293242"/>
            </a:avLst>
          </a:prstGeom>
          <a:solidFill>
            <a:srgbClr val="BCDBD4"/>
          </a:solidFill>
          <a:ln/>
        </p:spPr>
      </p:sp>
      <p:sp>
        <p:nvSpPr>
          <p:cNvPr id="6" name="Shape 4"/>
          <p:cNvSpPr/>
          <p:nvPr/>
        </p:nvSpPr>
        <p:spPr>
          <a:xfrm>
            <a:off x="7135654" y="2093357"/>
            <a:ext cx="359093" cy="359092"/>
          </a:xfrm>
          <a:prstGeom prst="roundRect">
            <a:avLst>
              <a:gd name="adj" fmla="val 18668"/>
            </a:avLst>
          </a:prstGeom>
          <a:solidFill>
            <a:srgbClr val="D6F5EE"/>
          </a:solidFill>
          <a:ln w="7620">
            <a:solidFill>
              <a:srgbClr val="BCDBD4"/>
            </a:solidFill>
            <a:prstDash val="solid"/>
          </a:ln>
        </p:spPr>
      </p:sp>
      <p:sp>
        <p:nvSpPr>
          <p:cNvPr id="7" name="Text 5"/>
          <p:cNvSpPr/>
          <p:nvPr/>
        </p:nvSpPr>
        <p:spPr>
          <a:xfrm>
            <a:off x="7195542" y="2123301"/>
            <a:ext cx="239316" cy="299204"/>
          </a:xfrm>
          <a:prstGeom prst="rect">
            <a:avLst/>
          </a:prstGeom>
          <a:noFill/>
          <a:ln/>
        </p:spPr>
        <p:txBody>
          <a:bodyPr wrap="none" lIns="0" tIns="0" rIns="0" bIns="0" rtlCol="0" anchor="t"/>
          <a:lstStyle/>
          <a:p>
            <a:pPr marL="0" indent="0" algn="ctr">
              <a:lnSpc>
                <a:spcPts val="1850"/>
              </a:lnSpc>
              <a:buNone/>
            </a:pPr>
            <a:r>
              <a:rPr lang="en-US" sz="1850" b="1">
                <a:solidFill>
                  <a:srgbClr val="333F70"/>
                </a:solidFill>
                <a:latin typeface="Unbounded Bold" pitchFamily="34" charset="0"/>
                <a:ea typeface="Unbounded Bold" pitchFamily="34" charset="-122"/>
                <a:cs typeface="Unbounded Bold" pitchFamily="34" charset="-120"/>
              </a:rPr>
              <a:t>1</a:t>
            </a:r>
            <a:endParaRPr lang="en-US" sz="1850"/>
          </a:p>
        </p:txBody>
      </p:sp>
      <p:sp>
        <p:nvSpPr>
          <p:cNvPr id="8" name="Text 6"/>
          <p:cNvSpPr/>
          <p:nvPr/>
        </p:nvSpPr>
        <p:spPr>
          <a:xfrm>
            <a:off x="3910489" y="2148126"/>
            <a:ext cx="2606754" cy="249436"/>
          </a:xfrm>
          <a:prstGeom prst="rect">
            <a:avLst/>
          </a:prstGeom>
          <a:noFill/>
          <a:ln/>
        </p:spPr>
        <p:txBody>
          <a:bodyPr wrap="none" lIns="0" tIns="0" rIns="0" bIns="0" rtlCol="0" anchor="t"/>
          <a:lstStyle/>
          <a:p>
            <a:pPr marL="0" indent="0" algn="r">
              <a:lnSpc>
                <a:spcPts val="1950"/>
              </a:lnSpc>
              <a:buNone/>
            </a:pPr>
            <a:r>
              <a:rPr lang="en-US" sz="1550" b="1">
                <a:solidFill>
                  <a:srgbClr val="333F70"/>
                </a:solidFill>
                <a:latin typeface="Unbounded Bold" pitchFamily="34" charset="0"/>
                <a:ea typeface="Unbounded Bold" pitchFamily="34" charset="-122"/>
                <a:cs typeface="Unbounded Bold" pitchFamily="34" charset="-120"/>
              </a:rPr>
              <a:t>Dataset Preparation</a:t>
            </a:r>
            <a:endParaRPr lang="en-US" sz="1550"/>
          </a:p>
        </p:txBody>
      </p:sp>
      <p:sp>
        <p:nvSpPr>
          <p:cNvPr id="9" name="Text 7"/>
          <p:cNvSpPr/>
          <p:nvPr/>
        </p:nvSpPr>
        <p:spPr>
          <a:xfrm>
            <a:off x="1022152" y="2474476"/>
            <a:ext cx="5495092" cy="691158"/>
          </a:xfrm>
          <a:prstGeom prst="rect">
            <a:avLst/>
          </a:prstGeom>
          <a:noFill/>
          <a:ln/>
        </p:spPr>
        <p:txBody>
          <a:bodyPr wrap="square" lIns="0" tIns="0" rIns="0" bIns="0" rtlCol="0" anchor="t"/>
          <a:lstStyle/>
          <a:p>
            <a:pPr marL="0" indent="0" algn="r">
              <a:lnSpc>
                <a:spcPts val="1800"/>
              </a:lnSpc>
              <a:buNone/>
            </a:pPr>
            <a:r>
              <a:rPr lang="en-US" sz="1250">
                <a:solidFill>
                  <a:srgbClr val="333F70"/>
                </a:solidFill>
                <a:latin typeface="Open Sans" pitchFamily="34" charset="0"/>
                <a:ea typeface="Open Sans" pitchFamily="34" charset="-122"/>
                <a:cs typeface="Open Sans" pitchFamily="34" charset="-120"/>
              </a:rPr>
              <a:t>Multiple datasets with varying prompt sizes selected, including both short prompts and long context prompts to study compression behaviour under different conditions</a:t>
            </a:r>
            <a:endParaRPr lang="en-US" sz="1250"/>
          </a:p>
        </p:txBody>
      </p:sp>
      <p:sp>
        <p:nvSpPr>
          <p:cNvPr id="10" name="Shape 8"/>
          <p:cNvSpPr/>
          <p:nvPr/>
        </p:nvSpPr>
        <p:spPr>
          <a:xfrm>
            <a:off x="7471886" y="3156585"/>
            <a:ext cx="478750" cy="22860"/>
          </a:xfrm>
          <a:prstGeom prst="roundRect">
            <a:avLst>
              <a:gd name="adj" fmla="val 293242"/>
            </a:avLst>
          </a:prstGeom>
          <a:solidFill>
            <a:srgbClr val="BCDBD4"/>
          </a:solidFill>
          <a:ln/>
        </p:spPr>
      </p:sp>
      <p:sp>
        <p:nvSpPr>
          <p:cNvPr id="11" name="Shape 9"/>
          <p:cNvSpPr/>
          <p:nvPr/>
        </p:nvSpPr>
        <p:spPr>
          <a:xfrm>
            <a:off x="7135654" y="2988469"/>
            <a:ext cx="359093" cy="359092"/>
          </a:xfrm>
          <a:prstGeom prst="roundRect">
            <a:avLst>
              <a:gd name="adj" fmla="val 18668"/>
            </a:avLst>
          </a:prstGeom>
          <a:solidFill>
            <a:srgbClr val="D6F5EE"/>
          </a:solidFill>
          <a:ln w="7620">
            <a:solidFill>
              <a:srgbClr val="BCDBD4"/>
            </a:solidFill>
            <a:prstDash val="solid"/>
          </a:ln>
        </p:spPr>
      </p:sp>
      <p:sp>
        <p:nvSpPr>
          <p:cNvPr id="12" name="Text 10"/>
          <p:cNvSpPr/>
          <p:nvPr/>
        </p:nvSpPr>
        <p:spPr>
          <a:xfrm>
            <a:off x="7195542" y="3018413"/>
            <a:ext cx="239316" cy="299204"/>
          </a:xfrm>
          <a:prstGeom prst="rect">
            <a:avLst/>
          </a:prstGeom>
          <a:noFill/>
          <a:ln/>
        </p:spPr>
        <p:txBody>
          <a:bodyPr wrap="none" lIns="0" tIns="0" rIns="0" bIns="0" rtlCol="0" anchor="t"/>
          <a:lstStyle/>
          <a:p>
            <a:pPr marL="0" indent="0" algn="ctr">
              <a:lnSpc>
                <a:spcPts val="1850"/>
              </a:lnSpc>
              <a:buNone/>
            </a:pPr>
            <a:r>
              <a:rPr lang="en-US" sz="1850" b="1">
                <a:solidFill>
                  <a:srgbClr val="333F70"/>
                </a:solidFill>
                <a:latin typeface="Unbounded Bold" pitchFamily="34" charset="0"/>
                <a:ea typeface="Unbounded Bold" pitchFamily="34" charset="-122"/>
                <a:cs typeface="Unbounded Bold" pitchFamily="34" charset="-120"/>
              </a:rPr>
              <a:t>2</a:t>
            </a:r>
            <a:endParaRPr lang="en-US" sz="1850"/>
          </a:p>
        </p:txBody>
      </p:sp>
      <p:sp>
        <p:nvSpPr>
          <p:cNvPr id="13" name="Text 11"/>
          <p:cNvSpPr/>
          <p:nvPr/>
        </p:nvSpPr>
        <p:spPr>
          <a:xfrm>
            <a:off x="8113157" y="3043237"/>
            <a:ext cx="2408515" cy="249436"/>
          </a:xfrm>
          <a:prstGeom prst="rect">
            <a:avLst/>
          </a:prstGeom>
          <a:noFill/>
          <a:ln/>
        </p:spPr>
        <p:txBody>
          <a:bodyPr wrap="none" lIns="0" tIns="0" rIns="0" bIns="0" rtlCol="0" anchor="t"/>
          <a:lstStyle/>
          <a:p>
            <a:pPr marL="0" indent="0" algn="l">
              <a:lnSpc>
                <a:spcPts val="1950"/>
              </a:lnSpc>
              <a:buNone/>
            </a:pPr>
            <a:r>
              <a:rPr lang="en-US" sz="1550" b="1">
                <a:solidFill>
                  <a:srgbClr val="333F70"/>
                </a:solidFill>
                <a:latin typeface="Unbounded Bold" pitchFamily="34" charset="0"/>
                <a:ea typeface="Unbounded Bold" pitchFamily="34" charset="-122"/>
                <a:cs typeface="Unbounded Bold" pitchFamily="34" charset="-120"/>
              </a:rPr>
              <a:t>Prompt Generation</a:t>
            </a:r>
            <a:endParaRPr lang="en-US" sz="1550"/>
          </a:p>
        </p:txBody>
      </p:sp>
      <p:sp>
        <p:nvSpPr>
          <p:cNvPr id="14" name="Text 12"/>
          <p:cNvSpPr/>
          <p:nvPr/>
        </p:nvSpPr>
        <p:spPr>
          <a:xfrm>
            <a:off x="8113157" y="3369588"/>
            <a:ext cx="5495092" cy="460772"/>
          </a:xfrm>
          <a:prstGeom prst="rect">
            <a:avLst/>
          </a:prstGeom>
          <a:noFill/>
          <a:ln/>
        </p:spPr>
        <p:txBody>
          <a:bodyPr wrap="square" lIns="0" tIns="0" rIns="0" bIns="0" rtlCol="0" anchor="t"/>
          <a:lstStyle/>
          <a:p>
            <a:pPr marL="0" indent="0" algn="l">
              <a:lnSpc>
                <a:spcPts val="1800"/>
              </a:lnSpc>
              <a:buNone/>
            </a:pPr>
            <a:r>
              <a:rPr lang="en-US" sz="1250">
                <a:solidFill>
                  <a:srgbClr val="333F70"/>
                </a:solidFill>
                <a:latin typeface="Open Sans" pitchFamily="34" charset="0"/>
                <a:ea typeface="Open Sans" pitchFamily="34" charset="-122"/>
                <a:cs typeface="Open Sans" pitchFamily="34" charset="-120"/>
              </a:rPr>
              <a:t>For each sample, a structured prompt constructed using context and question, instructing the model to produce concise answers</a:t>
            </a:r>
            <a:endParaRPr lang="en-US" sz="1250"/>
          </a:p>
        </p:txBody>
      </p:sp>
      <p:sp>
        <p:nvSpPr>
          <p:cNvPr id="15" name="Shape 13"/>
          <p:cNvSpPr/>
          <p:nvPr/>
        </p:nvSpPr>
        <p:spPr>
          <a:xfrm>
            <a:off x="6679763" y="3950732"/>
            <a:ext cx="478750" cy="22860"/>
          </a:xfrm>
          <a:prstGeom prst="roundRect">
            <a:avLst>
              <a:gd name="adj" fmla="val 293242"/>
            </a:avLst>
          </a:prstGeom>
          <a:solidFill>
            <a:srgbClr val="BCDBD4"/>
          </a:solidFill>
          <a:ln/>
        </p:spPr>
      </p:sp>
      <p:sp>
        <p:nvSpPr>
          <p:cNvPr id="16" name="Shape 14"/>
          <p:cNvSpPr/>
          <p:nvPr/>
        </p:nvSpPr>
        <p:spPr>
          <a:xfrm>
            <a:off x="7135654" y="3782616"/>
            <a:ext cx="359093" cy="359092"/>
          </a:xfrm>
          <a:prstGeom prst="roundRect">
            <a:avLst>
              <a:gd name="adj" fmla="val 18668"/>
            </a:avLst>
          </a:prstGeom>
          <a:solidFill>
            <a:srgbClr val="D6F5EE"/>
          </a:solidFill>
          <a:ln w="7620">
            <a:solidFill>
              <a:srgbClr val="BCDBD4"/>
            </a:solidFill>
            <a:prstDash val="solid"/>
          </a:ln>
        </p:spPr>
      </p:sp>
      <p:sp>
        <p:nvSpPr>
          <p:cNvPr id="17" name="Text 15"/>
          <p:cNvSpPr/>
          <p:nvPr/>
        </p:nvSpPr>
        <p:spPr>
          <a:xfrm>
            <a:off x="7195542" y="3812560"/>
            <a:ext cx="239316" cy="299204"/>
          </a:xfrm>
          <a:prstGeom prst="rect">
            <a:avLst/>
          </a:prstGeom>
          <a:noFill/>
          <a:ln/>
        </p:spPr>
        <p:txBody>
          <a:bodyPr wrap="none" lIns="0" tIns="0" rIns="0" bIns="0" rtlCol="0" anchor="t"/>
          <a:lstStyle/>
          <a:p>
            <a:pPr marL="0" indent="0" algn="ctr">
              <a:lnSpc>
                <a:spcPts val="1850"/>
              </a:lnSpc>
              <a:buNone/>
            </a:pPr>
            <a:r>
              <a:rPr lang="en-US" sz="1850" b="1">
                <a:solidFill>
                  <a:srgbClr val="333F70"/>
                </a:solidFill>
                <a:latin typeface="Unbounded Bold" pitchFamily="34" charset="0"/>
                <a:ea typeface="Unbounded Bold" pitchFamily="34" charset="-122"/>
                <a:cs typeface="Unbounded Bold" pitchFamily="34" charset="-120"/>
              </a:rPr>
              <a:t>3</a:t>
            </a:r>
            <a:endParaRPr lang="en-US" sz="1850"/>
          </a:p>
        </p:txBody>
      </p:sp>
      <p:sp>
        <p:nvSpPr>
          <p:cNvPr id="18" name="Text 16"/>
          <p:cNvSpPr/>
          <p:nvPr/>
        </p:nvSpPr>
        <p:spPr>
          <a:xfrm>
            <a:off x="3346252" y="3837384"/>
            <a:ext cx="3170992" cy="249436"/>
          </a:xfrm>
          <a:prstGeom prst="rect">
            <a:avLst/>
          </a:prstGeom>
          <a:noFill/>
          <a:ln/>
        </p:spPr>
        <p:txBody>
          <a:bodyPr wrap="none" lIns="0" tIns="0" rIns="0" bIns="0" rtlCol="0" anchor="t"/>
          <a:lstStyle/>
          <a:p>
            <a:pPr marL="0" indent="0" algn="r">
              <a:lnSpc>
                <a:spcPts val="1950"/>
              </a:lnSpc>
              <a:buNone/>
            </a:pPr>
            <a:r>
              <a:rPr lang="en-US" sz="1550" b="1">
                <a:solidFill>
                  <a:srgbClr val="333F70"/>
                </a:solidFill>
                <a:latin typeface="Unbounded Bold" pitchFamily="34" charset="0"/>
                <a:ea typeface="Unbounded Bold" pitchFamily="34" charset="-122"/>
                <a:cs typeface="Unbounded Bold" pitchFamily="34" charset="-120"/>
              </a:rPr>
              <a:t>Compression Experiment</a:t>
            </a:r>
            <a:endParaRPr lang="en-US" sz="1550"/>
          </a:p>
        </p:txBody>
      </p:sp>
      <p:sp>
        <p:nvSpPr>
          <p:cNvPr id="19" name="Text 17"/>
          <p:cNvSpPr/>
          <p:nvPr/>
        </p:nvSpPr>
        <p:spPr>
          <a:xfrm>
            <a:off x="1022152" y="4163735"/>
            <a:ext cx="5495092" cy="460772"/>
          </a:xfrm>
          <a:prstGeom prst="rect">
            <a:avLst/>
          </a:prstGeom>
          <a:noFill/>
          <a:ln/>
        </p:spPr>
        <p:txBody>
          <a:bodyPr wrap="square" lIns="0" tIns="0" rIns="0" bIns="0" rtlCol="0" anchor="t"/>
          <a:lstStyle/>
          <a:p>
            <a:pPr marL="0" indent="0" algn="r">
              <a:lnSpc>
                <a:spcPts val="1800"/>
              </a:lnSpc>
              <a:buNone/>
            </a:pPr>
            <a:r>
              <a:rPr lang="en-US" sz="1250">
                <a:solidFill>
                  <a:srgbClr val="333F70"/>
                </a:solidFill>
                <a:latin typeface="Open Sans" pitchFamily="34" charset="0"/>
                <a:ea typeface="Open Sans" pitchFamily="34" charset="-122"/>
                <a:cs typeface="Open Sans" pitchFamily="34" charset="-120"/>
              </a:rPr>
              <a:t>Two parallel experiments performed: original prompt (no compression) versus compressed prompt (using LLMLingua) for direct comparison</a:t>
            </a:r>
            <a:endParaRPr lang="en-US" sz="1250"/>
          </a:p>
        </p:txBody>
      </p:sp>
      <p:sp>
        <p:nvSpPr>
          <p:cNvPr id="20" name="Shape 18"/>
          <p:cNvSpPr/>
          <p:nvPr/>
        </p:nvSpPr>
        <p:spPr>
          <a:xfrm>
            <a:off x="7471886" y="4744879"/>
            <a:ext cx="478750" cy="22860"/>
          </a:xfrm>
          <a:prstGeom prst="roundRect">
            <a:avLst>
              <a:gd name="adj" fmla="val 293242"/>
            </a:avLst>
          </a:prstGeom>
          <a:solidFill>
            <a:srgbClr val="BCDBD4"/>
          </a:solidFill>
          <a:ln/>
        </p:spPr>
      </p:sp>
      <p:sp>
        <p:nvSpPr>
          <p:cNvPr id="21" name="Shape 19"/>
          <p:cNvSpPr/>
          <p:nvPr/>
        </p:nvSpPr>
        <p:spPr>
          <a:xfrm>
            <a:off x="7135654" y="4576762"/>
            <a:ext cx="359093" cy="359092"/>
          </a:xfrm>
          <a:prstGeom prst="roundRect">
            <a:avLst>
              <a:gd name="adj" fmla="val 18668"/>
            </a:avLst>
          </a:prstGeom>
          <a:solidFill>
            <a:srgbClr val="D6F5EE"/>
          </a:solidFill>
          <a:ln w="7620">
            <a:solidFill>
              <a:srgbClr val="BCDBD4"/>
            </a:solidFill>
            <a:prstDash val="solid"/>
          </a:ln>
        </p:spPr>
      </p:sp>
      <p:sp>
        <p:nvSpPr>
          <p:cNvPr id="22" name="Text 20"/>
          <p:cNvSpPr/>
          <p:nvPr/>
        </p:nvSpPr>
        <p:spPr>
          <a:xfrm>
            <a:off x="7195542" y="4606707"/>
            <a:ext cx="239316" cy="299204"/>
          </a:xfrm>
          <a:prstGeom prst="rect">
            <a:avLst/>
          </a:prstGeom>
          <a:noFill/>
          <a:ln/>
        </p:spPr>
        <p:txBody>
          <a:bodyPr wrap="none" lIns="0" tIns="0" rIns="0" bIns="0" rtlCol="0" anchor="t"/>
          <a:lstStyle/>
          <a:p>
            <a:pPr marL="0" indent="0" algn="ctr">
              <a:lnSpc>
                <a:spcPts val="1850"/>
              </a:lnSpc>
              <a:buNone/>
            </a:pPr>
            <a:r>
              <a:rPr lang="en-US" sz="1850" b="1">
                <a:solidFill>
                  <a:srgbClr val="333F70"/>
                </a:solidFill>
                <a:latin typeface="Unbounded Bold" pitchFamily="34" charset="0"/>
                <a:ea typeface="Unbounded Bold" pitchFamily="34" charset="-122"/>
                <a:cs typeface="Unbounded Bold" pitchFamily="34" charset="-120"/>
              </a:rPr>
              <a:t>4</a:t>
            </a:r>
            <a:endParaRPr lang="en-US" sz="1850"/>
          </a:p>
        </p:txBody>
      </p:sp>
      <p:sp>
        <p:nvSpPr>
          <p:cNvPr id="23" name="Text 21"/>
          <p:cNvSpPr/>
          <p:nvPr/>
        </p:nvSpPr>
        <p:spPr>
          <a:xfrm>
            <a:off x="8113157" y="4631531"/>
            <a:ext cx="2425898" cy="249436"/>
          </a:xfrm>
          <a:prstGeom prst="rect">
            <a:avLst/>
          </a:prstGeom>
          <a:noFill/>
          <a:ln/>
        </p:spPr>
        <p:txBody>
          <a:bodyPr wrap="none" lIns="0" tIns="0" rIns="0" bIns="0" rtlCol="0" anchor="t"/>
          <a:lstStyle/>
          <a:p>
            <a:pPr marL="0" indent="0" algn="l">
              <a:lnSpc>
                <a:spcPts val="1950"/>
              </a:lnSpc>
              <a:buNone/>
            </a:pPr>
            <a:r>
              <a:rPr lang="en-US" sz="1550" b="1">
                <a:solidFill>
                  <a:srgbClr val="333F70"/>
                </a:solidFill>
                <a:latin typeface="Unbounded Bold" pitchFamily="34" charset="0"/>
                <a:ea typeface="Unbounded Bold" pitchFamily="34" charset="-122"/>
                <a:cs typeface="Unbounded Bold" pitchFamily="34" charset="-120"/>
              </a:rPr>
              <a:t>Answer Generation</a:t>
            </a:r>
            <a:endParaRPr lang="en-US" sz="1550"/>
          </a:p>
        </p:txBody>
      </p:sp>
      <p:sp>
        <p:nvSpPr>
          <p:cNvPr id="24" name="Text 22"/>
          <p:cNvSpPr/>
          <p:nvPr/>
        </p:nvSpPr>
        <p:spPr>
          <a:xfrm>
            <a:off x="8113157" y="4957882"/>
            <a:ext cx="5495092" cy="460772"/>
          </a:xfrm>
          <a:prstGeom prst="rect">
            <a:avLst/>
          </a:prstGeom>
          <a:noFill/>
          <a:ln/>
        </p:spPr>
        <p:txBody>
          <a:bodyPr wrap="square" lIns="0" tIns="0" rIns="0" bIns="0" rtlCol="0" anchor="t"/>
          <a:lstStyle/>
          <a:p>
            <a:pPr marL="0" indent="0" algn="l">
              <a:lnSpc>
                <a:spcPts val="1800"/>
              </a:lnSpc>
              <a:buNone/>
            </a:pPr>
            <a:r>
              <a:rPr lang="en-US" sz="1250">
                <a:solidFill>
                  <a:srgbClr val="333F70"/>
                </a:solidFill>
                <a:latin typeface="Open Sans" pitchFamily="34" charset="0"/>
                <a:ea typeface="Open Sans" pitchFamily="34" charset="-122"/>
                <a:cs typeface="Open Sans" pitchFamily="34" charset="-120"/>
              </a:rPr>
              <a:t>Selected language models generate answers for each prompt version, maintaining identical parameters and temperature settings</a:t>
            </a:r>
            <a:endParaRPr lang="en-US" sz="1250"/>
          </a:p>
        </p:txBody>
      </p:sp>
      <p:sp>
        <p:nvSpPr>
          <p:cNvPr id="25" name="Shape 23"/>
          <p:cNvSpPr/>
          <p:nvPr/>
        </p:nvSpPr>
        <p:spPr>
          <a:xfrm>
            <a:off x="6679763" y="5539026"/>
            <a:ext cx="478750" cy="22860"/>
          </a:xfrm>
          <a:prstGeom prst="roundRect">
            <a:avLst>
              <a:gd name="adj" fmla="val 293242"/>
            </a:avLst>
          </a:prstGeom>
          <a:solidFill>
            <a:srgbClr val="BCDBD4"/>
          </a:solidFill>
          <a:ln/>
        </p:spPr>
      </p:sp>
      <p:sp>
        <p:nvSpPr>
          <p:cNvPr id="26" name="Shape 24"/>
          <p:cNvSpPr/>
          <p:nvPr/>
        </p:nvSpPr>
        <p:spPr>
          <a:xfrm>
            <a:off x="7135654" y="5370909"/>
            <a:ext cx="359093" cy="359092"/>
          </a:xfrm>
          <a:prstGeom prst="roundRect">
            <a:avLst>
              <a:gd name="adj" fmla="val 18668"/>
            </a:avLst>
          </a:prstGeom>
          <a:solidFill>
            <a:srgbClr val="D6F5EE"/>
          </a:solidFill>
          <a:ln w="7620">
            <a:solidFill>
              <a:srgbClr val="BCDBD4"/>
            </a:solidFill>
            <a:prstDash val="solid"/>
          </a:ln>
        </p:spPr>
      </p:sp>
      <p:sp>
        <p:nvSpPr>
          <p:cNvPr id="27" name="Text 25"/>
          <p:cNvSpPr/>
          <p:nvPr/>
        </p:nvSpPr>
        <p:spPr>
          <a:xfrm>
            <a:off x="7195542" y="5400854"/>
            <a:ext cx="239316" cy="299204"/>
          </a:xfrm>
          <a:prstGeom prst="rect">
            <a:avLst/>
          </a:prstGeom>
          <a:noFill/>
          <a:ln/>
        </p:spPr>
        <p:txBody>
          <a:bodyPr wrap="none" lIns="0" tIns="0" rIns="0" bIns="0" rtlCol="0" anchor="t"/>
          <a:lstStyle/>
          <a:p>
            <a:pPr marL="0" indent="0" algn="ctr">
              <a:lnSpc>
                <a:spcPts val="1850"/>
              </a:lnSpc>
              <a:buNone/>
            </a:pPr>
            <a:r>
              <a:rPr lang="en-US" sz="1850" b="1">
                <a:solidFill>
                  <a:srgbClr val="333F70"/>
                </a:solidFill>
                <a:latin typeface="Unbounded Bold" pitchFamily="34" charset="0"/>
                <a:ea typeface="Unbounded Bold" pitchFamily="34" charset="-122"/>
                <a:cs typeface="Unbounded Bold" pitchFamily="34" charset="-120"/>
              </a:rPr>
              <a:t>5</a:t>
            </a:r>
            <a:endParaRPr lang="en-US" sz="1850"/>
          </a:p>
        </p:txBody>
      </p:sp>
      <p:sp>
        <p:nvSpPr>
          <p:cNvPr id="28" name="Text 26"/>
          <p:cNvSpPr/>
          <p:nvPr/>
        </p:nvSpPr>
        <p:spPr>
          <a:xfrm>
            <a:off x="3562588" y="5425678"/>
            <a:ext cx="2954655" cy="249436"/>
          </a:xfrm>
          <a:prstGeom prst="rect">
            <a:avLst/>
          </a:prstGeom>
          <a:noFill/>
          <a:ln/>
        </p:spPr>
        <p:txBody>
          <a:bodyPr wrap="none" lIns="0" tIns="0" rIns="0" bIns="0" rtlCol="0" anchor="t"/>
          <a:lstStyle/>
          <a:p>
            <a:pPr marL="0" indent="0" algn="r">
              <a:lnSpc>
                <a:spcPts val="1950"/>
              </a:lnSpc>
              <a:buNone/>
            </a:pPr>
            <a:r>
              <a:rPr lang="en-US" sz="1550" b="1">
                <a:solidFill>
                  <a:srgbClr val="333F70"/>
                </a:solidFill>
                <a:latin typeface="Unbounded Bold" pitchFamily="34" charset="0"/>
                <a:ea typeface="Unbounded Bold" pitchFamily="34" charset="-122"/>
                <a:cs typeface="Unbounded Bold" pitchFamily="34" charset="-120"/>
              </a:rPr>
              <a:t>Hallucination Detection</a:t>
            </a:r>
            <a:endParaRPr lang="en-US" sz="1550"/>
          </a:p>
        </p:txBody>
      </p:sp>
      <p:sp>
        <p:nvSpPr>
          <p:cNvPr id="29" name="Text 27"/>
          <p:cNvSpPr/>
          <p:nvPr/>
        </p:nvSpPr>
        <p:spPr>
          <a:xfrm>
            <a:off x="1022152" y="5752028"/>
            <a:ext cx="5495092" cy="691158"/>
          </a:xfrm>
          <a:prstGeom prst="rect">
            <a:avLst/>
          </a:prstGeom>
          <a:noFill/>
          <a:ln/>
        </p:spPr>
        <p:txBody>
          <a:bodyPr wrap="square" lIns="0" tIns="0" rIns="0" bIns="0" rtlCol="0" anchor="t"/>
          <a:lstStyle/>
          <a:p>
            <a:pPr marL="0" indent="0" algn="r">
              <a:lnSpc>
                <a:spcPts val="1800"/>
              </a:lnSpc>
              <a:buNone/>
            </a:pPr>
            <a:r>
              <a:rPr lang="en-US" sz="1250">
                <a:solidFill>
                  <a:srgbClr val="333F70"/>
                </a:solidFill>
                <a:latin typeface="Open Sans" pitchFamily="34" charset="0"/>
                <a:ea typeface="Open Sans" pitchFamily="34" charset="-122"/>
                <a:cs typeface="Open Sans" pitchFamily="34" charset="-120"/>
              </a:rPr>
              <a:t>Natural Language Inference model evaluates whether generated answer is logically supported by provided context; unsupported answers classified as hallucinations</a:t>
            </a:r>
            <a:endParaRPr lang="en-US" sz="1250"/>
          </a:p>
        </p:txBody>
      </p:sp>
      <p:sp>
        <p:nvSpPr>
          <p:cNvPr id="30" name="Shape 28"/>
          <p:cNvSpPr/>
          <p:nvPr/>
        </p:nvSpPr>
        <p:spPr>
          <a:xfrm>
            <a:off x="7471886" y="6333173"/>
            <a:ext cx="478750" cy="22860"/>
          </a:xfrm>
          <a:prstGeom prst="roundRect">
            <a:avLst>
              <a:gd name="adj" fmla="val 293242"/>
            </a:avLst>
          </a:prstGeom>
          <a:solidFill>
            <a:srgbClr val="BCDBD4"/>
          </a:solidFill>
          <a:ln/>
        </p:spPr>
      </p:sp>
      <p:sp>
        <p:nvSpPr>
          <p:cNvPr id="31" name="Shape 29"/>
          <p:cNvSpPr/>
          <p:nvPr/>
        </p:nvSpPr>
        <p:spPr>
          <a:xfrm>
            <a:off x="7135654" y="6165056"/>
            <a:ext cx="359093" cy="359092"/>
          </a:xfrm>
          <a:prstGeom prst="roundRect">
            <a:avLst>
              <a:gd name="adj" fmla="val 18668"/>
            </a:avLst>
          </a:prstGeom>
          <a:solidFill>
            <a:srgbClr val="D6F5EE"/>
          </a:solidFill>
          <a:ln w="7620">
            <a:solidFill>
              <a:srgbClr val="BCDBD4"/>
            </a:solidFill>
            <a:prstDash val="solid"/>
          </a:ln>
        </p:spPr>
      </p:sp>
      <p:sp>
        <p:nvSpPr>
          <p:cNvPr id="32" name="Text 30"/>
          <p:cNvSpPr/>
          <p:nvPr/>
        </p:nvSpPr>
        <p:spPr>
          <a:xfrm>
            <a:off x="7195542" y="6195000"/>
            <a:ext cx="239316" cy="299204"/>
          </a:xfrm>
          <a:prstGeom prst="rect">
            <a:avLst/>
          </a:prstGeom>
          <a:noFill/>
          <a:ln/>
        </p:spPr>
        <p:txBody>
          <a:bodyPr wrap="none" lIns="0" tIns="0" rIns="0" bIns="0" rtlCol="0" anchor="t"/>
          <a:lstStyle/>
          <a:p>
            <a:pPr marL="0" indent="0" algn="ctr">
              <a:lnSpc>
                <a:spcPts val="1850"/>
              </a:lnSpc>
              <a:buNone/>
            </a:pPr>
            <a:r>
              <a:rPr lang="en-US" sz="1850" b="1">
                <a:solidFill>
                  <a:srgbClr val="333F70"/>
                </a:solidFill>
                <a:latin typeface="Unbounded Bold" pitchFamily="34" charset="0"/>
                <a:ea typeface="Unbounded Bold" pitchFamily="34" charset="-122"/>
                <a:cs typeface="Unbounded Bold" pitchFamily="34" charset="-120"/>
              </a:rPr>
              <a:t>6</a:t>
            </a:r>
            <a:endParaRPr lang="en-US" sz="1850"/>
          </a:p>
        </p:txBody>
      </p:sp>
      <p:sp>
        <p:nvSpPr>
          <p:cNvPr id="33" name="Text 31"/>
          <p:cNvSpPr/>
          <p:nvPr/>
        </p:nvSpPr>
        <p:spPr>
          <a:xfrm>
            <a:off x="8113157" y="6219825"/>
            <a:ext cx="2395776" cy="249436"/>
          </a:xfrm>
          <a:prstGeom prst="rect">
            <a:avLst/>
          </a:prstGeom>
          <a:noFill/>
          <a:ln/>
        </p:spPr>
        <p:txBody>
          <a:bodyPr wrap="none" lIns="0" tIns="0" rIns="0" bIns="0" rtlCol="0" anchor="t"/>
          <a:lstStyle/>
          <a:p>
            <a:pPr marL="0" indent="0" algn="l">
              <a:lnSpc>
                <a:spcPts val="1950"/>
              </a:lnSpc>
              <a:buNone/>
            </a:pPr>
            <a:r>
              <a:rPr lang="en-US" sz="1550" b="1">
                <a:solidFill>
                  <a:srgbClr val="333F70"/>
                </a:solidFill>
                <a:latin typeface="Unbounded Bold" pitchFamily="34" charset="0"/>
                <a:ea typeface="Unbounded Bold" pitchFamily="34" charset="-122"/>
                <a:cs typeface="Unbounded Bold" pitchFamily="34" charset="-120"/>
              </a:rPr>
              <a:t>Result Comparison</a:t>
            </a:r>
            <a:endParaRPr lang="en-US" sz="1550"/>
          </a:p>
        </p:txBody>
      </p:sp>
      <p:sp>
        <p:nvSpPr>
          <p:cNvPr id="34" name="Text 32"/>
          <p:cNvSpPr/>
          <p:nvPr/>
        </p:nvSpPr>
        <p:spPr>
          <a:xfrm>
            <a:off x="8113157" y="6546175"/>
            <a:ext cx="5495092" cy="460772"/>
          </a:xfrm>
          <a:prstGeom prst="rect">
            <a:avLst/>
          </a:prstGeom>
          <a:noFill/>
          <a:ln/>
        </p:spPr>
        <p:txBody>
          <a:bodyPr wrap="square" lIns="0" tIns="0" rIns="0" bIns="0" rtlCol="0" anchor="t"/>
          <a:lstStyle/>
          <a:p>
            <a:pPr marL="0" indent="0" algn="l">
              <a:lnSpc>
                <a:spcPts val="1800"/>
              </a:lnSpc>
              <a:buNone/>
            </a:pPr>
            <a:r>
              <a:rPr lang="en-US" sz="1250">
                <a:solidFill>
                  <a:srgbClr val="333F70"/>
                </a:solidFill>
                <a:latin typeface="Open Sans" pitchFamily="34" charset="0"/>
                <a:ea typeface="Open Sans" pitchFamily="34" charset="-122"/>
                <a:cs typeface="Open Sans" pitchFamily="34" charset="-120"/>
              </a:rPr>
              <a:t>Hallucination scores compared between compressed and uncompressed prompts to determine effectiveness of prompt compression</a:t>
            </a:r>
            <a:endParaRPr lang="en-US" sz="12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lowchart of a computer process&#10;&#10;AI-generated content may be incorrect.">
            <a:extLst>
              <a:ext uri="{FF2B5EF4-FFF2-40B4-BE49-F238E27FC236}">
                <a16:creationId xmlns:a16="http://schemas.microsoft.com/office/drawing/2014/main" id="{4BDE2A20-5E71-1C0C-5319-63B0F2E013F3}"/>
              </a:ext>
            </a:extLst>
          </p:cNvPr>
          <p:cNvPicPr>
            <a:picLocks noChangeAspect="1"/>
          </p:cNvPicPr>
          <p:nvPr/>
        </p:nvPicPr>
        <p:blipFill>
          <a:blip r:embed="rId2"/>
          <a:stretch>
            <a:fillRect/>
          </a:stretch>
        </p:blipFill>
        <p:spPr>
          <a:xfrm>
            <a:off x="1540067" y="1410858"/>
            <a:ext cx="11541651" cy="62503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 0">
            <a:extLst>
              <a:ext uri="{FF2B5EF4-FFF2-40B4-BE49-F238E27FC236}">
                <a16:creationId xmlns:a16="http://schemas.microsoft.com/office/drawing/2014/main" id="{406EC193-86D1-9E7C-CF11-475A448C9188}"/>
              </a:ext>
            </a:extLst>
          </p:cNvPr>
          <p:cNvSpPr/>
          <p:nvPr/>
        </p:nvSpPr>
        <p:spPr>
          <a:xfrm>
            <a:off x="793790" y="561261"/>
            <a:ext cx="6678573" cy="620078"/>
          </a:xfrm>
          <a:prstGeom prst="rect">
            <a:avLst/>
          </a:prstGeom>
          <a:noFill/>
          <a:ln/>
        </p:spPr>
        <p:txBody>
          <a:bodyPr wrap="none" lIns="0" tIns="0" rIns="0" bIns="0" rtlCol="0" anchor="t"/>
          <a:lstStyle/>
          <a:p>
            <a:pPr>
              <a:lnSpc>
                <a:spcPts val="4850"/>
              </a:lnSpc>
            </a:pPr>
            <a:r>
              <a:rPr lang="en-US" sz="3900" b="1">
                <a:solidFill>
                  <a:srgbClr val="333F70"/>
                </a:solidFill>
                <a:latin typeface="Unbounded Bold"/>
                <a:ea typeface="Unbounded Bold"/>
              </a:rPr>
              <a:t>User Flow Diagram</a:t>
            </a:r>
            <a:endParaRPr lang="en-US"/>
          </a:p>
        </p:txBody>
      </p:sp>
    </p:spTree>
    <p:extLst>
      <p:ext uri="{BB962C8B-B14F-4D97-AF65-F5344CB8AC3E}">
        <p14:creationId xmlns:p14="http://schemas.microsoft.com/office/powerpoint/2010/main" val="2765491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7581" y="855940"/>
            <a:ext cx="6121003" cy="505778"/>
          </a:xfrm>
          <a:prstGeom prst="rect">
            <a:avLst/>
          </a:prstGeom>
          <a:noFill/>
          <a:ln/>
        </p:spPr>
        <p:txBody>
          <a:bodyPr wrap="none" lIns="0" tIns="0" rIns="0" bIns="0" rtlCol="0" anchor="t"/>
          <a:lstStyle/>
          <a:p>
            <a:pPr marL="0" indent="0" algn="l">
              <a:lnSpc>
                <a:spcPts val="3950"/>
              </a:lnSpc>
              <a:buNone/>
            </a:pPr>
            <a:r>
              <a:rPr lang="en-US" sz="3150" b="1">
                <a:solidFill>
                  <a:srgbClr val="333F70"/>
                </a:solidFill>
                <a:latin typeface="Unbounded Bold" pitchFamily="34" charset="0"/>
                <a:ea typeface="Unbounded Bold" pitchFamily="34" charset="-122"/>
                <a:cs typeface="Unbounded Bold" pitchFamily="34" charset="-120"/>
              </a:rPr>
              <a:t>Prompt Length Analysis</a:t>
            </a:r>
            <a:endParaRPr lang="en-US" sz="3150"/>
          </a:p>
        </p:txBody>
      </p:sp>
      <p:sp>
        <p:nvSpPr>
          <p:cNvPr id="4" name="Text 1"/>
          <p:cNvSpPr/>
          <p:nvPr/>
        </p:nvSpPr>
        <p:spPr>
          <a:xfrm>
            <a:off x="647581" y="1559719"/>
            <a:ext cx="7848838" cy="705445"/>
          </a:xfrm>
          <a:prstGeom prst="rect">
            <a:avLst/>
          </a:prstGeom>
          <a:noFill/>
          <a:ln/>
        </p:spPr>
        <p:txBody>
          <a:bodyPr wrap="squar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The effect of compression varies substantially depending on the initial prompt length. Understanding this relationship is crucial for determining when prompt compression provides practical benefits versus when alternative approaches may be more effective.</a:t>
            </a:r>
            <a:endParaRPr lang="en-US" sz="1250"/>
          </a:p>
        </p:txBody>
      </p:sp>
      <p:sp>
        <p:nvSpPr>
          <p:cNvPr id="5" name="Shape 2"/>
          <p:cNvSpPr/>
          <p:nvPr/>
        </p:nvSpPr>
        <p:spPr>
          <a:xfrm>
            <a:off x="647581" y="2413635"/>
            <a:ext cx="7848838" cy="1565315"/>
          </a:xfrm>
          <a:prstGeom prst="roundRect">
            <a:avLst>
              <a:gd name="adj" fmla="val 7010"/>
            </a:avLst>
          </a:prstGeom>
          <a:solidFill>
            <a:srgbClr val="FFFFFF"/>
          </a:solidFill>
          <a:ln w="22860">
            <a:solidFill>
              <a:srgbClr val="BCDBD4"/>
            </a:solidFill>
            <a:prstDash val="solid"/>
          </a:ln>
        </p:spPr>
      </p:sp>
      <p:sp>
        <p:nvSpPr>
          <p:cNvPr id="6" name="Shape 3"/>
          <p:cNvSpPr/>
          <p:nvPr/>
        </p:nvSpPr>
        <p:spPr>
          <a:xfrm>
            <a:off x="624721" y="2413635"/>
            <a:ext cx="91440" cy="1565315"/>
          </a:xfrm>
          <a:prstGeom prst="roundRect">
            <a:avLst>
              <a:gd name="adj" fmla="val 74362"/>
            </a:avLst>
          </a:prstGeom>
          <a:solidFill>
            <a:srgbClr val="26A688"/>
          </a:solidFill>
          <a:ln/>
        </p:spPr>
      </p:sp>
      <p:sp>
        <p:nvSpPr>
          <p:cNvPr id="7" name="Text 4"/>
          <p:cNvSpPr/>
          <p:nvPr/>
        </p:nvSpPr>
        <p:spPr>
          <a:xfrm>
            <a:off x="900827" y="2598301"/>
            <a:ext cx="2023705" cy="253008"/>
          </a:xfrm>
          <a:prstGeom prst="rect">
            <a:avLst/>
          </a:prstGeom>
          <a:noFill/>
          <a:ln/>
        </p:spPr>
        <p:txBody>
          <a:bodyPr wrap="none" lIns="0" tIns="0" rIns="0" bIns="0" rtlCol="0" anchor="t"/>
          <a:lstStyle/>
          <a:p>
            <a:pPr marL="0" indent="0" algn="l">
              <a:lnSpc>
                <a:spcPts val="1950"/>
              </a:lnSpc>
              <a:buNone/>
            </a:pPr>
            <a:r>
              <a:rPr lang="en-US" sz="1550" b="1">
                <a:solidFill>
                  <a:srgbClr val="333F70"/>
                </a:solidFill>
                <a:latin typeface="Unbounded Bold" pitchFamily="34" charset="0"/>
                <a:ea typeface="Unbounded Bold" pitchFamily="34" charset="-122"/>
                <a:cs typeface="Unbounded Bold" pitchFamily="34" charset="-120"/>
              </a:rPr>
              <a:t>Short Prompts</a:t>
            </a:r>
            <a:endParaRPr lang="en-US" sz="1550"/>
          </a:p>
        </p:txBody>
      </p:sp>
      <p:sp>
        <p:nvSpPr>
          <p:cNvPr id="8" name="Text 5"/>
          <p:cNvSpPr/>
          <p:nvPr/>
        </p:nvSpPr>
        <p:spPr>
          <a:xfrm>
            <a:off x="900827" y="2930485"/>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Minimal hallucination reduction</a:t>
            </a:r>
            <a:endParaRPr lang="en-US" sz="1250"/>
          </a:p>
        </p:txBody>
      </p:sp>
      <p:sp>
        <p:nvSpPr>
          <p:cNvPr id="9" name="Text 6"/>
          <p:cNvSpPr/>
          <p:nvPr/>
        </p:nvSpPr>
        <p:spPr>
          <a:xfrm>
            <a:off x="900827" y="3244810"/>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Potential information loss</a:t>
            </a:r>
            <a:endParaRPr lang="en-US" sz="1250"/>
          </a:p>
        </p:txBody>
      </p:sp>
      <p:sp>
        <p:nvSpPr>
          <p:cNvPr id="10" name="Text 7"/>
          <p:cNvSpPr/>
          <p:nvPr/>
        </p:nvSpPr>
        <p:spPr>
          <a:xfrm>
            <a:off x="900827" y="3559135"/>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Compression less effective</a:t>
            </a:r>
            <a:endParaRPr lang="en-US" sz="1250"/>
          </a:p>
        </p:txBody>
      </p:sp>
      <p:sp>
        <p:nvSpPr>
          <p:cNvPr id="11" name="Shape 8"/>
          <p:cNvSpPr/>
          <p:nvPr/>
        </p:nvSpPr>
        <p:spPr>
          <a:xfrm>
            <a:off x="647581" y="4110990"/>
            <a:ext cx="7848838" cy="1565315"/>
          </a:xfrm>
          <a:prstGeom prst="roundRect">
            <a:avLst>
              <a:gd name="adj" fmla="val 7010"/>
            </a:avLst>
          </a:prstGeom>
          <a:solidFill>
            <a:srgbClr val="FFFFFF"/>
          </a:solidFill>
          <a:ln w="22860">
            <a:solidFill>
              <a:srgbClr val="BCDBD4"/>
            </a:solidFill>
            <a:prstDash val="solid"/>
          </a:ln>
        </p:spPr>
      </p:sp>
      <p:sp>
        <p:nvSpPr>
          <p:cNvPr id="12" name="Shape 9"/>
          <p:cNvSpPr/>
          <p:nvPr/>
        </p:nvSpPr>
        <p:spPr>
          <a:xfrm>
            <a:off x="624721" y="4110990"/>
            <a:ext cx="91440" cy="1565315"/>
          </a:xfrm>
          <a:prstGeom prst="roundRect">
            <a:avLst>
              <a:gd name="adj" fmla="val 74362"/>
            </a:avLst>
          </a:prstGeom>
          <a:solidFill>
            <a:srgbClr val="26A688"/>
          </a:solidFill>
          <a:ln/>
        </p:spPr>
      </p:sp>
      <p:sp>
        <p:nvSpPr>
          <p:cNvPr id="13" name="Text 10"/>
          <p:cNvSpPr/>
          <p:nvPr/>
        </p:nvSpPr>
        <p:spPr>
          <a:xfrm>
            <a:off x="900827" y="4295656"/>
            <a:ext cx="2192417" cy="253008"/>
          </a:xfrm>
          <a:prstGeom prst="rect">
            <a:avLst/>
          </a:prstGeom>
          <a:noFill/>
          <a:ln/>
        </p:spPr>
        <p:txBody>
          <a:bodyPr wrap="none" lIns="0" tIns="0" rIns="0" bIns="0" rtlCol="0" anchor="t"/>
          <a:lstStyle/>
          <a:p>
            <a:pPr marL="0" indent="0" algn="l">
              <a:lnSpc>
                <a:spcPts val="1950"/>
              </a:lnSpc>
              <a:buNone/>
            </a:pPr>
            <a:r>
              <a:rPr lang="en-US" sz="1550" b="1">
                <a:solidFill>
                  <a:srgbClr val="333F70"/>
                </a:solidFill>
                <a:latin typeface="Unbounded Bold" pitchFamily="34" charset="0"/>
                <a:ea typeface="Unbounded Bold" pitchFamily="34" charset="-122"/>
                <a:cs typeface="Unbounded Bold" pitchFamily="34" charset="-120"/>
              </a:rPr>
              <a:t>Medium Prompts</a:t>
            </a:r>
            <a:endParaRPr lang="en-US" sz="1550"/>
          </a:p>
        </p:txBody>
      </p:sp>
      <p:sp>
        <p:nvSpPr>
          <p:cNvPr id="14" name="Text 11"/>
          <p:cNvSpPr/>
          <p:nvPr/>
        </p:nvSpPr>
        <p:spPr>
          <a:xfrm>
            <a:off x="900827" y="4627840"/>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Moderate hallucination reduction</a:t>
            </a:r>
            <a:endParaRPr lang="en-US" sz="1250"/>
          </a:p>
        </p:txBody>
      </p:sp>
      <p:sp>
        <p:nvSpPr>
          <p:cNvPr id="15" name="Text 12"/>
          <p:cNvSpPr/>
          <p:nvPr/>
        </p:nvSpPr>
        <p:spPr>
          <a:xfrm>
            <a:off x="900827" y="4942165"/>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Efficient compression ratio</a:t>
            </a:r>
            <a:endParaRPr lang="en-US" sz="1250"/>
          </a:p>
        </p:txBody>
      </p:sp>
      <p:sp>
        <p:nvSpPr>
          <p:cNvPr id="16" name="Text 13"/>
          <p:cNvSpPr/>
          <p:nvPr/>
        </p:nvSpPr>
        <p:spPr>
          <a:xfrm>
            <a:off x="900827" y="5256490"/>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Balanced trade-offs</a:t>
            </a:r>
            <a:endParaRPr lang="en-US" sz="1250"/>
          </a:p>
        </p:txBody>
      </p:sp>
      <p:sp>
        <p:nvSpPr>
          <p:cNvPr id="17" name="Shape 14"/>
          <p:cNvSpPr/>
          <p:nvPr/>
        </p:nvSpPr>
        <p:spPr>
          <a:xfrm>
            <a:off x="647581" y="5808345"/>
            <a:ext cx="7848838" cy="1565315"/>
          </a:xfrm>
          <a:prstGeom prst="roundRect">
            <a:avLst>
              <a:gd name="adj" fmla="val 7010"/>
            </a:avLst>
          </a:prstGeom>
          <a:solidFill>
            <a:srgbClr val="FFFFFF"/>
          </a:solidFill>
          <a:ln w="22860">
            <a:solidFill>
              <a:srgbClr val="BCDBD4"/>
            </a:solidFill>
            <a:prstDash val="solid"/>
          </a:ln>
        </p:spPr>
      </p:sp>
      <p:sp>
        <p:nvSpPr>
          <p:cNvPr id="18" name="Shape 15"/>
          <p:cNvSpPr/>
          <p:nvPr/>
        </p:nvSpPr>
        <p:spPr>
          <a:xfrm>
            <a:off x="624721" y="5808345"/>
            <a:ext cx="91440" cy="1565315"/>
          </a:xfrm>
          <a:prstGeom prst="roundRect">
            <a:avLst>
              <a:gd name="adj" fmla="val 74362"/>
            </a:avLst>
          </a:prstGeom>
          <a:solidFill>
            <a:srgbClr val="26A688"/>
          </a:solidFill>
          <a:ln/>
        </p:spPr>
      </p:sp>
      <p:sp>
        <p:nvSpPr>
          <p:cNvPr id="19" name="Text 16"/>
          <p:cNvSpPr/>
          <p:nvPr/>
        </p:nvSpPr>
        <p:spPr>
          <a:xfrm>
            <a:off x="900827" y="5993011"/>
            <a:ext cx="2023705" cy="253008"/>
          </a:xfrm>
          <a:prstGeom prst="rect">
            <a:avLst/>
          </a:prstGeom>
          <a:noFill/>
          <a:ln/>
        </p:spPr>
        <p:txBody>
          <a:bodyPr wrap="none" lIns="0" tIns="0" rIns="0" bIns="0" rtlCol="0" anchor="t"/>
          <a:lstStyle/>
          <a:p>
            <a:pPr marL="0" indent="0" algn="l">
              <a:lnSpc>
                <a:spcPts val="1950"/>
              </a:lnSpc>
              <a:buNone/>
            </a:pPr>
            <a:r>
              <a:rPr lang="en-US" sz="1550" b="1">
                <a:solidFill>
                  <a:srgbClr val="333F70"/>
                </a:solidFill>
                <a:latin typeface="Unbounded Bold" pitchFamily="34" charset="0"/>
                <a:ea typeface="Unbounded Bold" pitchFamily="34" charset="-122"/>
                <a:cs typeface="Unbounded Bold" pitchFamily="34" charset="-120"/>
              </a:rPr>
              <a:t>Long Prompts</a:t>
            </a:r>
            <a:endParaRPr lang="en-US" sz="1550"/>
          </a:p>
        </p:txBody>
      </p:sp>
      <p:sp>
        <p:nvSpPr>
          <p:cNvPr id="20" name="Text 17"/>
          <p:cNvSpPr/>
          <p:nvPr/>
        </p:nvSpPr>
        <p:spPr>
          <a:xfrm>
            <a:off x="900827" y="6325195"/>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Significant redundancy removal</a:t>
            </a:r>
            <a:endParaRPr lang="en-US" sz="1250"/>
          </a:p>
        </p:txBody>
      </p:sp>
      <p:sp>
        <p:nvSpPr>
          <p:cNvPr id="21" name="Text 18"/>
          <p:cNvSpPr/>
          <p:nvPr/>
        </p:nvSpPr>
        <p:spPr>
          <a:xfrm>
            <a:off x="900827" y="6639520"/>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Improved factual consistency</a:t>
            </a:r>
            <a:endParaRPr lang="en-US" sz="1250"/>
          </a:p>
        </p:txBody>
      </p:sp>
      <p:sp>
        <p:nvSpPr>
          <p:cNvPr id="22" name="Text 19"/>
          <p:cNvSpPr/>
          <p:nvPr/>
        </p:nvSpPr>
        <p:spPr>
          <a:xfrm>
            <a:off x="900827" y="6953845"/>
            <a:ext cx="7410926" cy="235148"/>
          </a:xfrm>
          <a:prstGeom prst="rect">
            <a:avLst/>
          </a:prstGeom>
          <a:noFill/>
          <a:ln/>
        </p:spPr>
        <p:txBody>
          <a:bodyPr wrap="none" lIns="0" tIns="0" rIns="0" bIns="0" rtlCol="0" anchor="t"/>
          <a:lstStyle/>
          <a:p>
            <a:pPr marL="0" indent="0" algn="l">
              <a:lnSpc>
                <a:spcPts val="1850"/>
              </a:lnSpc>
              <a:buNone/>
            </a:pPr>
            <a:r>
              <a:rPr lang="en-US" sz="1250">
                <a:solidFill>
                  <a:srgbClr val="333F70"/>
                </a:solidFill>
                <a:latin typeface="Open Sans" pitchFamily="34" charset="0"/>
                <a:ea typeface="Open Sans" pitchFamily="34" charset="-122"/>
                <a:cs typeface="Open Sans" pitchFamily="34" charset="-120"/>
              </a:rPr>
              <a:t>Most effective application</a:t>
            </a:r>
            <a:endParaRPr lang="en-US" sz="12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57181"/>
            <a:ext cx="6635353" cy="620078"/>
          </a:xfrm>
          <a:prstGeom prst="rect">
            <a:avLst/>
          </a:prstGeom>
          <a:noFill/>
          <a:ln/>
        </p:spPr>
        <p:txBody>
          <a:bodyPr wrap="none" lIns="0" tIns="0" rIns="0" bIns="0" rtlCol="0" anchor="t"/>
          <a:lstStyle/>
          <a:p>
            <a:pPr marL="0" indent="0" algn="l">
              <a:lnSpc>
                <a:spcPts val="4850"/>
              </a:lnSpc>
              <a:buNone/>
            </a:pPr>
            <a:r>
              <a:rPr lang="en-US" sz="3900" b="1">
                <a:solidFill>
                  <a:srgbClr val="333F70"/>
                </a:solidFill>
                <a:latin typeface="Unbounded Bold" pitchFamily="34" charset="0"/>
                <a:ea typeface="Unbounded Bold" pitchFamily="34" charset="-122"/>
                <a:cs typeface="Unbounded Bold" pitchFamily="34" charset="-120"/>
              </a:rPr>
              <a:t>Experimental Results</a:t>
            </a:r>
            <a:endParaRPr lang="en-US" sz="3900"/>
          </a:p>
        </p:txBody>
      </p:sp>
      <p:sp>
        <p:nvSpPr>
          <p:cNvPr id="3" name="Text 1"/>
          <p:cNvSpPr/>
          <p:nvPr/>
        </p:nvSpPr>
        <p:spPr>
          <a:xfrm>
            <a:off x="793790" y="2373273"/>
            <a:ext cx="2977039" cy="372070"/>
          </a:xfrm>
          <a:prstGeom prst="rect">
            <a:avLst/>
          </a:prstGeom>
          <a:noFill/>
          <a:ln/>
        </p:spPr>
        <p:txBody>
          <a:bodyPr wrap="none" lIns="0" tIns="0" rIns="0" bIns="0" rtlCol="0" anchor="t"/>
          <a:lstStyle/>
          <a:p>
            <a:pPr marL="0" indent="0" algn="l">
              <a:lnSpc>
                <a:spcPts val="2900"/>
              </a:lnSpc>
              <a:buNone/>
            </a:pPr>
            <a:r>
              <a:rPr lang="en-US" sz="2300" b="1">
                <a:solidFill>
                  <a:srgbClr val="333F70"/>
                </a:solidFill>
                <a:latin typeface="Unbounded Bold" pitchFamily="34" charset="0"/>
                <a:ea typeface="Unbounded Bold" pitchFamily="34" charset="-122"/>
                <a:cs typeface="Unbounded Bold" pitchFamily="34" charset="-120"/>
              </a:rPr>
              <a:t>Key Findings</a:t>
            </a:r>
            <a:endParaRPr lang="en-US" sz="2300"/>
          </a:p>
        </p:txBody>
      </p:sp>
      <p:sp>
        <p:nvSpPr>
          <p:cNvPr id="4" name="Text 2"/>
          <p:cNvSpPr/>
          <p:nvPr/>
        </p:nvSpPr>
        <p:spPr>
          <a:xfrm>
            <a:off x="793790" y="2943701"/>
            <a:ext cx="7632025" cy="127015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The experimental results reveal important insights into the relationship between prompt compression and hallucination reduction. The analysis demonstrates that </a:t>
            </a:r>
            <a:r>
              <a:rPr lang="en-US" sz="1550" b="1">
                <a:solidFill>
                  <a:srgbClr val="26A688"/>
                </a:solidFill>
                <a:latin typeface="Open Sans" pitchFamily="34" charset="0"/>
                <a:ea typeface="Open Sans" pitchFamily="34" charset="-122"/>
                <a:cs typeface="Open Sans" pitchFamily="34" charset="-120"/>
              </a:rPr>
              <a:t>prompt compression significantly reduces token count</a:t>
            </a:r>
            <a:r>
              <a:rPr lang="en-US" sz="1550">
                <a:solidFill>
                  <a:srgbClr val="333F70"/>
                </a:solidFill>
                <a:latin typeface="Open Sans" pitchFamily="34" charset="0"/>
                <a:ea typeface="Open Sans" pitchFamily="34" charset="-122"/>
                <a:cs typeface="Open Sans" pitchFamily="34" charset="-120"/>
              </a:rPr>
              <a:t> in input prompts, improving computational efficiency without sacrificing response quality.</a:t>
            </a:r>
            <a:endParaRPr lang="en-US" sz="1550"/>
          </a:p>
        </p:txBody>
      </p:sp>
      <p:sp>
        <p:nvSpPr>
          <p:cNvPr id="5" name="Text 3"/>
          <p:cNvSpPr/>
          <p:nvPr/>
        </p:nvSpPr>
        <p:spPr>
          <a:xfrm>
            <a:off x="793790" y="4392454"/>
            <a:ext cx="7632025" cy="127015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However, the impact on hallucination rates depends critically on prompt size. For </a:t>
            </a:r>
            <a:r>
              <a:rPr lang="en-US" sz="1550" b="1">
                <a:solidFill>
                  <a:srgbClr val="333F70"/>
                </a:solidFill>
                <a:latin typeface="Open Sans" pitchFamily="34" charset="0"/>
                <a:ea typeface="Open Sans" pitchFamily="34" charset="-122"/>
                <a:cs typeface="Open Sans" pitchFamily="34" charset="-120"/>
              </a:rPr>
              <a:t>short prompts</a:t>
            </a:r>
            <a:r>
              <a:rPr lang="en-US" sz="1550">
                <a:solidFill>
                  <a:srgbClr val="333F70"/>
                </a:solidFill>
                <a:latin typeface="Open Sans" pitchFamily="34" charset="0"/>
                <a:ea typeface="Open Sans" pitchFamily="34" charset="-122"/>
                <a:cs typeface="Open Sans" pitchFamily="34" charset="-120"/>
              </a:rPr>
              <a:t>, compression does not significantly reduce hallucinations and may occasionally remove useful contextual information, potentially increasing error rates.</a:t>
            </a:r>
            <a:endParaRPr lang="en-US" sz="1550"/>
          </a:p>
        </p:txBody>
      </p:sp>
      <p:sp>
        <p:nvSpPr>
          <p:cNvPr id="6" name="Text 4"/>
          <p:cNvSpPr/>
          <p:nvPr/>
        </p:nvSpPr>
        <p:spPr>
          <a:xfrm>
            <a:off x="793790" y="5841206"/>
            <a:ext cx="7632025"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For </a:t>
            </a:r>
            <a:r>
              <a:rPr lang="en-US" sz="1550" b="1">
                <a:solidFill>
                  <a:srgbClr val="333F70"/>
                </a:solidFill>
                <a:latin typeface="Open Sans" pitchFamily="34" charset="0"/>
                <a:ea typeface="Open Sans" pitchFamily="34" charset="-122"/>
                <a:cs typeface="Open Sans" pitchFamily="34" charset="-120"/>
              </a:rPr>
              <a:t>longer prompts</a:t>
            </a:r>
            <a:r>
              <a:rPr lang="en-US" sz="1550">
                <a:solidFill>
                  <a:srgbClr val="333F70"/>
                </a:solidFill>
                <a:latin typeface="Open Sans" pitchFamily="34" charset="0"/>
                <a:ea typeface="Open Sans" pitchFamily="34" charset="-122"/>
                <a:cs typeface="Open Sans" pitchFamily="34" charset="-120"/>
              </a:rPr>
              <a:t>, compression proves more beneficial, successfully removing redundant context and achieving modest improvements in factual consistency. The reduction in hallucinations correlates with the degree of compression applied.</a:t>
            </a:r>
            <a:endParaRPr lang="en-US" sz="1550"/>
          </a:p>
        </p:txBody>
      </p:sp>
      <p:sp>
        <p:nvSpPr>
          <p:cNvPr id="7" name="Text 5"/>
          <p:cNvSpPr/>
          <p:nvPr/>
        </p:nvSpPr>
        <p:spPr>
          <a:xfrm>
            <a:off x="8917543" y="2373273"/>
            <a:ext cx="3998595" cy="372070"/>
          </a:xfrm>
          <a:prstGeom prst="rect">
            <a:avLst/>
          </a:prstGeom>
          <a:noFill/>
          <a:ln/>
        </p:spPr>
        <p:txBody>
          <a:bodyPr wrap="none" lIns="0" tIns="0" rIns="0" bIns="0" rtlCol="0" anchor="t"/>
          <a:lstStyle/>
          <a:p>
            <a:pPr marL="0" indent="0" algn="l">
              <a:lnSpc>
                <a:spcPts val="2900"/>
              </a:lnSpc>
              <a:buNone/>
            </a:pPr>
            <a:r>
              <a:rPr lang="en-US" sz="2300" b="1">
                <a:solidFill>
                  <a:srgbClr val="333F70"/>
                </a:solidFill>
                <a:latin typeface="Unbounded Bold" pitchFamily="34" charset="0"/>
                <a:ea typeface="Unbounded Bold" pitchFamily="34" charset="-122"/>
                <a:cs typeface="Unbounded Bold" pitchFamily="34" charset="-120"/>
              </a:rPr>
              <a:t>Quantitative Insights</a:t>
            </a:r>
            <a:endParaRPr lang="en-US" sz="2300"/>
          </a:p>
        </p:txBody>
      </p:sp>
      <p:sp>
        <p:nvSpPr>
          <p:cNvPr id="8" name="Text 6"/>
          <p:cNvSpPr/>
          <p:nvPr/>
        </p:nvSpPr>
        <p:spPr>
          <a:xfrm>
            <a:off x="8917543" y="2943701"/>
            <a:ext cx="4926568" cy="1865352"/>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333F70"/>
                </a:solidFill>
                <a:latin typeface="Open Sans" pitchFamily="34" charset="0"/>
                <a:ea typeface="Open Sans" pitchFamily="34" charset="-122"/>
                <a:cs typeface="Open Sans" pitchFamily="34" charset="-120"/>
              </a:rPr>
              <a:t>Substantial token reduction achieved</a:t>
            </a:r>
            <a:endParaRPr lang="en-US" sz="1550"/>
          </a:p>
          <a:p>
            <a:pPr marL="342900" indent="-342900" algn="l">
              <a:lnSpc>
                <a:spcPts val="2500"/>
              </a:lnSpc>
              <a:buSzPct val="100000"/>
              <a:buChar char="•"/>
            </a:pPr>
            <a:r>
              <a:rPr lang="en-US" sz="1550">
                <a:solidFill>
                  <a:srgbClr val="333F70"/>
                </a:solidFill>
                <a:latin typeface="Open Sans" pitchFamily="34" charset="0"/>
                <a:ea typeface="Open Sans" pitchFamily="34" charset="-122"/>
                <a:cs typeface="Open Sans" pitchFamily="34" charset="-120"/>
              </a:rPr>
              <a:t>Efficiency gains demonstrated</a:t>
            </a:r>
            <a:endParaRPr lang="en-US" sz="1550"/>
          </a:p>
          <a:p>
            <a:pPr marL="342900" indent="-342900" algn="l">
              <a:lnSpc>
                <a:spcPts val="2500"/>
              </a:lnSpc>
              <a:buSzPct val="100000"/>
              <a:buChar char="•"/>
            </a:pPr>
            <a:r>
              <a:rPr lang="en-US" sz="1550">
                <a:solidFill>
                  <a:srgbClr val="333F70"/>
                </a:solidFill>
                <a:latin typeface="Open Sans" pitchFamily="34" charset="0"/>
                <a:ea typeface="Open Sans" pitchFamily="34" charset="-122"/>
                <a:cs typeface="Open Sans" pitchFamily="34" charset="-120"/>
              </a:rPr>
              <a:t>Size-dependent effectiveness observed</a:t>
            </a:r>
            <a:endParaRPr lang="en-US" sz="1550"/>
          </a:p>
          <a:p>
            <a:pPr marL="342900" indent="-342900" algn="l">
              <a:lnSpc>
                <a:spcPts val="2500"/>
              </a:lnSpc>
              <a:buSzPct val="100000"/>
              <a:buChar char="•"/>
            </a:pPr>
            <a:r>
              <a:rPr lang="en-US" sz="1550">
                <a:solidFill>
                  <a:srgbClr val="333F70"/>
                </a:solidFill>
                <a:latin typeface="Open Sans" pitchFamily="34" charset="0"/>
                <a:ea typeface="Open Sans" pitchFamily="34" charset="-122"/>
                <a:cs typeface="Open Sans" pitchFamily="34" charset="-120"/>
              </a:rPr>
              <a:t>Redundancy removal in longer prompts</a:t>
            </a:r>
            <a:endParaRPr lang="en-US" sz="1550"/>
          </a:p>
          <a:p>
            <a:pPr marL="342900" indent="-342900" algn="l">
              <a:lnSpc>
                <a:spcPts val="2500"/>
              </a:lnSpc>
              <a:buSzPct val="100000"/>
              <a:buChar char="•"/>
            </a:pPr>
            <a:r>
              <a:rPr lang="en-US" sz="1550">
                <a:solidFill>
                  <a:srgbClr val="333F70"/>
                </a:solidFill>
                <a:latin typeface="Open Sans" pitchFamily="34" charset="0"/>
                <a:ea typeface="Open Sans" pitchFamily="34" charset="-122"/>
                <a:cs typeface="Open Sans" pitchFamily="34" charset="-120"/>
              </a:rPr>
              <a:t>Modest consistency improvements</a:t>
            </a:r>
            <a:endParaRPr lang="en-US" sz="15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116699" y="295156"/>
            <a:ext cx="4561046" cy="332780"/>
          </a:xfrm>
          <a:prstGeom prst="rect">
            <a:avLst/>
          </a:prstGeom>
          <a:noFill/>
          <a:ln/>
        </p:spPr>
        <p:txBody>
          <a:bodyPr wrap="none" lIns="0" tIns="0" rIns="0" bIns="0" rtlCol="0" anchor="t"/>
          <a:lstStyle/>
          <a:p>
            <a:pPr marL="0" indent="0" algn="l">
              <a:lnSpc>
                <a:spcPts val="2600"/>
              </a:lnSpc>
              <a:buNone/>
            </a:pPr>
            <a:r>
              <a:rPr lang="en-US" sz="2050" b="1">
                <a:solidFill>
                  <a:srgbClr val="333F70"/>
                </a:solidFill>
                <a:latin typeface="Unbounded Bold" pitchFamily="34" charset="0"/>
                <a:ea typeface="Unbounded Bold" pitchFamily="34" charset="-122"/>
                <a:cs typeface="Unbounded Bold" pitchFamily="34" charset="-120"/>
              </a:rPr>
              <a:t>Future Research Directions</a:t>
            </a:r>
            <a:endParaRPr lang="en-US" sz="2050"/>
          </a:p>
        </p:txBody>
      </p:sp>
      <p:sp>
        <p:nvSpPr>
          <p:cNvPr id="3" name="Text 1"/>
          <p:cNvSpPr/>
          <p:nvPr/>
        </p:nvSpPr>
        <p:spPr>
          <a:xfrm>
            <a:off x="3116699" y="742117"/>
            <a:ext cx="8397002" cy="261461"/>
          </a:xfrm>
          <a:prstGeom prst="rect">
            <a:avLst/>
          </a:prstGeom>
          <a:noFill/>
          <a:ln/>
        </p:spPr>
        <p:txBody>
          <a:bodyPr wrap="square" lIns="0" tIns="0" rIns="0" bIns="0" rtlCol="0" anchor="t"/>
          <a:lstStyle/>
          <a:p>
            <a:pPr marL="0" indent="0" algn="l">
              <a:lnSpc>
                <a:spcPts val="1000"/>
              </a:lnSpc>
              <a:buNone/>
            </a:pPr>
            <a:r>
              <a:rPr lang="en-US" sz="800">
                <a:solidFill>
                  <a:srgbClr val="333F70"/>
                </a:solidFill>
                <a:latin typeface="Open Sans" pitchFamily="34" charset="0"/>
                <a:ea typeface="Open Sans" pitchFamily="34" charset="-122"/>
                <a:cs typeface="Open Sans" pitchFamily="34" charset="-120"/>
              </a:rPr>
              <a:t>Whilst this project demonstrates the potential of prompt compression, several promising avenues for future research could substantially enhance hallucination reduction and practical applicability.</a:t>
            </a:r>
            <a:endParaRPr lang="en-US" sz="800"/>
          </a:p>
        </p:txBody>
      </p:sp>
      <p:pic>
        <p:nvPicPr>
          <p:cNvPr id="4" name="Image 0" descr="preencoded.png"/>
          <p:cNvPicPr>
            <a:picLocks noChangeAspect="1"/>
          </p:cNvPicPr>
          <p:nvPr/>
        </p:nvPicPr>
        <p:blipFill>
          <a:blip r:embed="rId3"/>
          <a:stretch>
            <a:fillRect/>
          </a:stretch>
        </p:blipFill>
        <p:spPr>
          <a:xfrm>
            <a:off x="3116699" y="1067753"/>
            <a:ext cx="2751415" cy="2751415"/>
          </a:xfrm>
          <a:prstGeom prst="rect">
            <a:avLst/>
          </a:prstGeom>
        </p:spPr>
      </p:pic>
      <p:sp>
        <p:nvSpPr>
          <p:cNvPr id="5" name="Text 2"/>
          <p:cNvSpPr/>
          <p:nvPr/>
        </p:nvSpPr>
        <p:spPr>
          <a:xfrm>
            <a:off x="3116699" y="3876199"/>
            <a:ext cx="2398990" cy="166330"/>
          </a:xfrm>
          <a:prstGeom prst="rect">
            <a:avLst/>
          </a:prstGeom>
          <a:noFill/>
          <a:ln/>
        </p:spPr>
        <p:txBody>
          <a:bodyPr wrap="none" lIns="0" tIns="0" rIns="0" bIns="0" rtlCol="0" anchor="t"/>
          <a:lstStyle/>
          <a:p>
            <a:pPr marL="0" indent="0" algn="l">
              <a:lnSpc>
                <a:spcPts val="1300"/>
              </a:lnSpc>
              <a:buNone/>
            </a:pPr>
            <a:r>
              <a:rPr lang="en-US" sz="1000" b="1">
                <a:solidFill>
                  <a:srgbClr val="333F70"/>
                </a:solidFill>
                <a:latin typeface="Unbounded Bold" pitchFamily="34" charset="0"/>
                <a:ea typeface="Unbounded Bold" pitchFamily="34" charset="-122"/>
                <a:cs typeface="Unbounded Bold" pitchFamily="34" charset="-120"/>
              </a:rPr>
              <a:t>Retrieval System Integration</a:t>
            </a:r>
            <a:endParaRPr lang="en-US" sz="1000"/>
          </a:p>
        </p:txBody>
      </p:sp>
      <p:sp>
        <p:nvSpPr>
          <p:cNvPr id="6" name="Text 3"/>
          <p:cNvSpPr/>
          <p:nvPr/>
        </p:nvSpPr>
        <p:spPr>
          <a:xfrm>
            <a:off x="3116699" y="4076700"/>
            <a:ext cx="2751415" cy="392192"/>
          </a:xfrm>
          <a:prstGeom prst="rect">
            <a:avLst/>
          </a:prstGeom>
          <a:noFill/>
          <a:ln/>
        </p:spPr>
        <p:txBody>
          <a:bodyPr wrap="square" lIns="0" tIns="0" rIns="0" bIns="0" rtlCol="0" anchor="t"/>
          <a:lstStyle/>
          <a:p>
            <a:pPr marL="0" indent="0" algn="l">
              <a:lnSpc>
                <a:spcPts val="1000"/>
              </a:lnSpc>
              <a:buNone/>
            </a:pPr>
            <a:r>
              <a:rPr lang="en-US" sz="800">
                <a:solidFill>
                  <a:srgbClr val="333F70"/>
                </a:solidFill>
                <a:latin typeface="Open Sans" pitchFamily="34" charset="0"/>
                <a:ea typeface="Open Sans" pitchFamily="34" charset="-122"/>
                <a:cs typeface="Open Sans" pitchFamily="34" charset="-120"/>
              </a:rPr>
              <a:t>Combining prompt compression with retrieval-based systems could improve factual grounding by providing verified external knowledge sources</a:t>
            </a:r>
            <a:endParaRPr lang="en-US" sz="800"/>
          </a:p>
        </p:txBody>
      </p:sp>
      <p:pic>
        <p:nvPicPr>
          <p:cNvPr id="7" name="Image 1" descr="preencoded.png"/>
          <p:cNvPicPr>
            <a:picLocks noChangeAspect="1"/>
          </p:cNvPicPr>
          <p:nvPr/>
        </p:nvPicPr>
        <p:blipFill>
          <a:blip r:embed="rId4"/>
          <a:stretch>
            <a:fillRect/>
          </a:stretch>
        </p:blipFill>
        <p:spPr>
          <a:xfrm>
            <a:off x="5939433" y="1067753"/>
            <a:ext cx="2751415" cy="2751415"/>
          </a:xfrm>
          <a:prstGeom prst="rect">
            <a:avLst/>
          </a:prstGeom>
        </p:spPr>
      </p:pic>
      <p:sp>
        <p:nvSpPr>
          <p:cNvPr id="8" name="Text 4"/>
          <p:cNvSpPr/>
          <p:nvPr/>
        </p:nvSpPr>
        <p:spPr>
          <a:xfrm>
            <a:off x="5939433" y="3876199"/>
            <a:ext cx="1758910" cy="166330"/>
          </a:xfrm>
          <a:prstGeom prst="rect">
            <a:avLst/>
          </a:prstGeom>
          <a:noFill/>
          <a:ln/>
        </p:spPr>
        <p:txBody>
          <a:bodyPr wrap="none" lIns="0" tIns="0" rIns="0" bIns="0" rtlCol="0" anchor="t"/>
          <a:lstStyle/>
          <a:p>
            <a:pPr marL="0" indent="0" algn="l">
              <a:lnSpc>
                <a:spcPts val="1300"/>
              </a:lnSpc>
              <a:buNone/>
            </a:pPr>
            <a:r>
              <a:rPr lang="en-US" sz="1000" b="1">
                <a:solidFill>
                  <a:srgbClr val="333F70"/>
                </a:solidFill>
                <a:latin typeface="Unbounded Bold" pitchFamily="34" charset="0"/>
                <a:ea typeface="Unbounded Bold" pitchFamily="34" charset="-122"/>
                <a:cs typeface="Unbounded Bold" pitchFamily="34" charset="-120"/>
              </a:rPr>
              <a:t>Larger Model Testing</a:t>
            </a:r>
            <a:endParaRPr lang="en-US" sz="1000"/>
          </a:p>
        </p:txBody>
      </p:sp>
      <p:sp>
        <p:nvSpPr>
          <p:cNvPr id="9" name="Text 5"/>
          <p:cNvSpPr/>
          <p:nvPr/>
        </p:nvSpPr>
        <p:spPr>
          <a:xfrm>
            <a:off x="5939433" y="4076700"/>
            <a:ext cx="2751415" cy="392192"/>
          </a:xfrm>
          <a:prstGeom prst="rect">
            <a:avLst/>
          </a:prstGeom>
          <a:noFill/>
          <a:ln/>
        </p:spPr>
        <p:txBody>
          <a:bodyPr wrap="square" lIns="0" tIns="0" rIns="0" bIns="0" rtlCol="0" anchor="t"/>
          <a:lstStyle/>
          <a:p>
            <a:pPr marL="0" indent="0" algn="l">
              <a:lnSpc>
                <a:spcPts val="1000"/>
              </a:lnSpc>
              <a:buNone/>
            </a:pPr>
            <a:r>
              <a:rPr lang="en-US" sz="800">
                <a:solidFill>
                  <a:srgbClr val="333F70"/>
                </a:solidFill>
                <a:latin typeface="Open Sans" pitchFamily="34" charset="0"/>
                <a:ea typeface="Open Sans" pitchFamily="34" charset="-122"/>
                <a:cs typeface="Open Sans" pitchFamily="34" charset="-120"/>
              </a:rPr>
              <a:t>Evaluating the approach using larger architectures such as GPT-4 to analyse whether compression behaves differently with more powerful models</a:t>
            </a:r>
            <a:endParaRPr lang="en-US" sz="800"/>
          </a:p>
        </p:txBody>
      </p:sp>
      <p:pic>
        <p:nvPicPr>
          <p:cNvPr id="10" name="Image 2" descr="preencoded.png"/>
          <p:cNvPicPr>
            <a:picLocks noChangeAspect="1"/>
          </p:cNvPicPr>
          <p:nvPr/>
        </p:nvPicPr>
        <p:blipFill>
          <a:blip r:embed="rId5"/>
          <a:stretch>
            <a:fillRect/>
          </a:stretch>
        </p:blipFill>
        <p:spPr>
          <a:xfrm>
            <a:off x="8762167" y="1067753"/>
            <a:ext cx="2751534" cy="2751534"/>
          </a:xfrm>
          <a:prstGeom prst="rect">
            <a:avLst/>
          </a:prstGeom>
        </p:spPr>
      </p:pic>
      <p:sp>
        <p:nvSpPr>
          <p:cNvPr id="11" name="Text 6"/>
          <p:cNvSpPr/>
          <p:nvPr/>
        </p:nvSpPr>
        <p:spPr>
          <a:xfrm>
            <a:off x="8762167" y="3876318"/>
            <a:ext cx="1892737" cy="166330"/>
          </a:xfrm>
          <a:prstGeom prst="rect">
            <a:avLst/>
          </a:prstGeom>
          <a:noFill/>
          <a:ln/>
        </p:spPr>
        <p:txBody>
          <a:bodyPr wrap="none" lIns="0" tIns="0" rIns="0" bIns="0" rtlCol="0" anchor="t"/>
          <a:lstStyle/>
          <a:p>
            <a:pPr marL="0" indent="0" algn="l">
              <a:lnSpc>
                <a:spcPts val="1300"/>
              </a:lnSpc>
              <a:buNone/>
            </a:pPr>
            <a:r>
              <a:rPr lang="en-US" sz="1000" b="1">
                <a:solidFill>
                  <a:srgbClr val="333F70"/>
                </a:solidFill>
                <a:latin typeface="Unbounded Bold" pitchFamily="34" charset="0"/>
                <a:ea typeface="Unbounded Bold" pitchFamily="34" charset="-122"/>
                <a:cs typeface="Unbounded Bold" pitchFamily="34" charset="-120"/>
              </a:rPr>
              <a:t>Dynamic Compression</a:t>
            </a:r>
            <a:endParaRPr lang="en-US" sz="1000"/>
          </a:p>
        </p:txBody>
      </p:sp>
      <p:sp>
        <p:nvSpPr>
          <p:cNvPr id="12" name="Text 7"/>
          <p:cNvSpPr/>
          <p:nvPr/>
        </p:nvSpPr>
        <p:spPr>
          <a:xfrm>
            <a:off x="8762167" y="4076819"/>
            <a:ext cx="2751534" cy="392192"/>
          </a:xfrm>
          <a:prstGeom prst="rect">
            <a:avLst/>
          </a:prstGeom>
          <a:noFill/>
          <a:ln/>
        </p:spPr>
        <p:txBody>
          <a:bodyPr wrap="square" lIns="0" tIns="0" rIns="0" bIns="0" rtlCol="0" anchor="t"/>
          <a:lstStyle/>
          <a:p>
            <a:pPr marL="0" indent="0" algn="l">
              <a:lnSpc>
                <a:spcPts val="1000"/>
              </a:lnSpc>
              <a:buNone/>
            </a:pPr>
            <a:r>
              <a:rPr lang="en-US" sz="800">
                <a:solidFill>
                  <a:srgbClr val="333F70"/>
                </a:solidFill>
                <a:latin typeface="Open Sans" pitchFamily="34" charset="0"/>
                <a:ea typeface="Open Sans" pitchFamily="34" charset="-122"/>
                <a:cs typeface="Open Sans" pitchFamily="34" charset="-120"/>
              </a:rPr>
              <a:t>Developing adaptive compression strategies that preserve critical information more effectively through context-aware techniques</a:t>
            </a:r>
            <a:endParaRPr lang="en-US" sz="800"/>
          </a:p>
        </p:txBody>
      </p:sp>
      <p:pic>
        <p:nvPicPr>
          <p:cNvPr id="13" name="Image 3" descr="preencoded.png"/>
          <p:cNvPicPr>
            <a:picLocks noChangeAspect="1"/>
          </p:cNvPicPr>
          <p:nvPr/>
        </p:nvPicPr>
        <p:blipFill>
          <a:blip r:embed="rId6"/>
          <a:stretch>
            <a:fillRect/>
          </a:stretch>
        </p:blipFill>
        <p:spPr>
          <a:xfrm>
            <a:off x="3116699" y="4533186"/>
            <a:ext cx="2751415" cy="2751415"/>
          </a:xfrm>
          <a:prstGeom prst="rect">
            <a:avLst/>
          </a:prstGeom>
        </p:spPr>
      </p:pic>
      <p:sp>
        <p:nvSpPr>
          <p:cNvPr id="14" name="Text 8"/>
          <p:cNvSpPr/>
          <p:nvPr/>
        </p:nvSpPr>
        <p:spPr>
          <a:xfrm>
            <a:off x="3116699" y="7341632"/>
            <a:ext cx="1714381" cy="166330"/>
          </a:xfrm>
          <a:prstGeom prst="rect">
            <a:avLst/>
          </a:prstGeom>
          <a:noFill/>
          <a:ln/>
        </p:spPr>
        <p:txBody>
          <a:bodyPr wrap="none" lIns="0" tIns="0" rIns="0" bIns="0" rtlCol="0" anchor="t"/>
          <a:lstStyle/>
          <a:p>
            <a:pPr marL="0" indent="0" algn="l">
              <a:lnSpc>
                <a:spcPts val="1300"/>
              </a:lnSpc>
              <a:buNone/>
            </a:pPr>
            <a:r>
              <a:rPr lang="en-US" sz="1000" b="1">
                <a:solidFill>
                  <a:srgbClr val="333F70"/>
                </a:solidFill>
                <a:latin typeface="Unbounded Bold" pitchFamily="34" charset="0"/>
                <a:ea typeface="Unbounded Bold" pitchFamily="34" charset="-122"/>
                <a:cs typeface="Unbounded Bold" pitchFamily="34" charset="-120"/>
              </a:rPr>
              <a:t>Advanced Detection</a:t>
            </a:r>
            <a:endParaRPr lang="en-US" sz="1000"/>
          </a:p>
        </p:txBody>
      </p:sp>
      <p:sp>
        <p:nvSpPr>
          <p:cNvPr id="15" name="Text 9"/>
          <p:cNvSpPr/>
          <p:nvPr/>
        </p:nvSpPr>
        <p:spPr>
          <a:xfrm>
            <a:off x="3116699" y="7542133"/>
            <a:ext cx="2751415" cy="392192"/>
          </a:xfrm>
          <a:prstGeom prst="rect">
            <a:avLst/>
          </a:prstGeom>
          <a:noFill/>
          <a:ln/>
        </p:spPr>
        <p:txBody>
          <a:bodyPr wrap="square" lIns="0" tIns="0" rIns="0" bIns="0" rtlCol="0" anchor="t"/>
          <a:lstStyle/>
          <a:p>
            <a:pPr marL="0" indent="0" algn="l">
              <a:lnSpc>
                <a:spcPts val="1000"/>
              </a:lnSpc>
              <a:buNone/>
            </a:pPr>
            <a:r>
              <a:rPr lang="en-US" sz="800">
                <a:solidFill>
                  <a:srgbClr val="333F70"/>
                </a:solidFill>
                <a:latin typeface="Open Sans" pitchFamily="34" charset="0"/>
                <a:ea typeface="Open Sans" pitchFamily="34" charset="-122"/>
                <a:cs typeface="Open Sans" pitchFamily="34" charset="-120"/>
              </a:rPr>
              <a:t>Implementing more sophisticated evaluation methods including fact-checking systems and knowledge graph verification</a:t>
            </a:r>
            <a:endParaRPr lang="en-US" sz="800"/>
          </a:p>
        </p:txBody>
      </p:sp>
      <p:pic>
        <p:nvPicPr>
          <p:cNvPr id="16" name="Image 4" descr="preencoded.png"/>
          <p:cNvPicPr>
            <a:picLocks noChangeAspect="1"/>
          </p:cNvPicPr>
          <p:nvPr/>
        </p:nvPicPr>
        <p:blipFill>
          <a:blip r:embed="rId7"/>
          <a:stretch>
            <a:fillRect/>
          </a:stretch>
        </p:blipFill>
        <p:spPr>
          <a:xfrm>
            <a:off x="5939433" y="4533186"/>
            <a:ext cx="2751415" cy="2751415"/>
          </a:xfrm>
          <a:prstGeom prst="rect">
            <a:avLst/>
          </a:prstGeom>
        </p:spPr>
      </p:pic>
      <p:sp>
        <p:nvSpPr>
          <p:cNvPr id="17" name="Text 10"/>
          <p:cNvSpPr/>
          <p:nvPr/>
        </p:nvSpPr>
        <p:spPr>
          <a:xfrm>
            <a:off x="5939433" y="7341632"/>
            <a:ext cx="1985248" cy="166330"/>
          </a:xfrm>
          <a:prstGeom prst="rect">
            <a:avLst/>
          </a:prstGeom>
          <a:noFill/>
          <a:ln/>
        </p:spPr>
        <p:txBody>
          <a:bodyPr wrap="none" lIns="0" tIns="0" rIns="0" bIns="0" rtlCol="0" anchor="t"/>
          <a:lstStyle/>
          <a:p>
            <a:pPr marL="0" indent="0" algn="l">
              <a:lnSpc>
                <a:spcPts val="1300"/>
              </a:lnSpc>
              <a:buNone/>
            </a:pPr>
            <a:r>
              <a:rPr lang="en-US" sz="1000" b="1">
                <a:solidFill>
                  <a:srgbClr val="333F70"/>
                </a:solidFill>
                <a:latin typeface="Unbounded Bold" pitchFamily="34" charset="0"/>
                <a:ea typeface="Unbounded Bold" pitchFamily="34" charset="-122"/>
                <a:cs typeface="Unbounded Bold" pitchFamily="34" charset="-120"/>
              </a:rPr>
              <a:t>Real-world Applications</a:t>
            </a:r>
            <a:endParaRPr lang="en-US" sz="1000"/>
          </a:p>
        </p:txBody>
      </p:sp>
      <p:sp>
        <p:nvSpPr>
          <p:cNvPr id="18" name="Text 11"/>
          <p:cNvSpPr/>
          <p:nvPr/>
        </p:nvSpPr>
        <p:spPr>
          <a:xfrm>
            <a:off x="5939433" y="7542133"/>
            <a:ext cx="2751415" cy="392192"/>
          </a:xfrm>
          <a:prstGeom prst="rect">
            <a:avLst/>
          </a:prstGeom>
          <a:noFill/>
          <a:ln/>
        </p:spPr>
        <p:txBody>
          <a:bodyPr wrap="square" lIns="0" tIns="0" rIns="0" bIns="0" rtlCol="0" anchor="t"/>
          <a:lstStyle/>
          <a:p>
            <a:pPr marL="0" indent="0" algn="l">
              <a:lnSpc>
                <a:spcPts val="1000"/>
              </a:lnSpc>
              <a:buNone/>
            </a:pPr>
            <a:r>
              <a:rPr lang="en-US" sz="800">
                <a:solidFill>
                  <a:srgbClr val="333F70"/>
                </a:solidFill>
                <a:latin typeface="Open Sans" pitchFamily="34" charset="0"/>
                <a:ea typeface="Open Sans" pitchFamily="34" charset="-122"/>
                <a:cs typeface="Open Sans" pitchFamily="34" charset="-120"/>
              </a:rPr>
              <a:t>Integrating the technique into chatbots, virtual assistants, and document analysis systems to improve reliability</a:t>
            </a:r>
            <a:endParaRPr lang="en-US" sz="800"/>
          </a:p>
        </p:txBody>
      </p:sp>
      <p:pic>
        <p:nvPicPr>
          <p:cNvPr id="19" name="Image 5" descr="preencoded.png"/>
          <p:cNvPicPr>
            <a:picLocks noChangeAspect="1"/>
          </p:cNvPicPr>
          <p:nvPr/>
        </p:nvPicPr>
        <p:blipFill>
          <a:blip r:embed="rId8"/>
          <a:stretch>
            <a:fillRect/>
          </a:stretch>
        </p:blipFill>
        <p:spPr>
          <a:xfrm>
            <a:off x="8762167" y="4533186"/>
            <a:ext cx="2751534" cy="2751534"/>
          </a:xfrm>
          <a:prstGeom prst="rect">
            <a:avLst/>
          </a:prstGeom>
        </p:spPr>
      </p:pic>
      <p:sp>
        <p:nvSpPr>
          <p:cNvPr id="20" name="Text 12"/>
          <p:cNvSpPr/>
          <p:nvPr/>
        </p:nvSpPr>
        <p:spPr>
          <a:xfrm>
            <a:off x="8762167" y="7341751"/>
            <a:ext cx="1665446" cy="166330"/>
          </a:xfrm>
          <a:prstGeom prst="rect">
            <a:avLst/>
          </a:prstGeom>
          <a:noFill/>
          <a:ln/>
        </p:spPr>
        <p:txBody>
          <a:bodyPr wrap="none" lIns="0" tIns="0" rIns="0" bIns="0" rtlCol="0" anchor="t"/>
          <a:lstStyle/>
          <a:p>
            <a:pPr marL="0" indent="0" algn="l">
              <a:lnSpc>
                <a:spcPts val="1300"/>
              </a:lnSpc>
              <a:buNone/>
            </a:pPr>
            <a:r>
              <a:rPr lang="en-US" sz="1000" b="1">
                <a:solidFill>
                  <a:srgbClr val="333F70"/>
                </a:solidFill>
                <a:latin typeface="Unbounded Bold" pitchFamily="34" charset="0"/>
                <a:ea typeface="Unbounded Bold" pitchFamily="34" charset="-122"/>
                <a:cs typeface="Unbounded Bold" pitchFamily="34" charset="-120"/>
              </a:rPr>
              <a:t>Training Integration</a:t>
            </a:r>
            <a:endParaRPr lang="en-US" sz="1000"/>
          </a:p>
        </p:txBody>
      </p:sp>
      <p:sp>
        <p:nvSpPr>
          <p:cNvPr id="21" name="Text 13"/>
          <p:cNvSpPr/>
          <p:nvPr/>
        </p:nvSpPr>
        <p:spPr>
          <a:xfrm>
            <a:off x="8762167" y="7542252"/>
            <a:ext cx="2751534" cy="261461"/>
          </a:xfrm>
          <a:prstGeom prst="rect">
            <a:avLst/>
          </a:prstGeom>
          <a:noFill/>
          <a:ln/>
        </p:spPr>
        <p:txBody>
          <a:bodyPr wrap="square" lIns="0" tIns="0" rIns="0" bIns="0" rtlCol="0" anchor="t"/>
          <a:lstStyle/>
          <a:p>
            <a:pPr marL="0" indent="0" algn="l">
              <a:lnSpc>
                <a:spcPts val="1000"/>
              </a:lnSpc>
              <a:buNone/>
            </a:pPr>
            <a:r>
              <a:rPr lang="en-US" sz="800">
                <a:solidFill>
                  <a:srgbClr val="333F70"/>
                </a:solidFill>
                <a:latin typeface="Open Sans" pitchFamily="34" charset="0"/>
                <a:ea typeface="Open Sans" pitchFamily="34" charset="-122"/>
                <a:cs typeface="Open Sans" pitchFamily="34" charset="-120"/>
              </a:rPr>
              <a:t>Exploring whether compressed prompts during training improve model robustness to hallucination</a:t>
            </a:r>
            <a:endParaRPr lang="en-US" sz="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18285"/>
            <a:ext cx="4961811" cy="620078"/>
          </a:xfrm>
          <a:prstGeom prst="rect">
            <a:avLst/>
          </a:prstGeom>
          <a:noFill/>
          <a:ln/>
        </p:spPr>
        <p:txBody>
          <a:bodyPr wrap="none" lIns="0" tIns="0" rIns="0" bIns="0" rtlCol="0" anchor="t"/>
          <a:lstStyle/>
          <a:p>
            <a:pPr marL="0" indent="0" algn="l">
              <a:lnSpc>
                <a:spcPts val="4850"/>
              </a:lnSpc>
              <a:buNone/>
            </a:pPr>
            <a:r>
              <a:rPr lang="en-US" sz="3900" b="1">
                <a:solidFill>
                  <a:srgbClr val="333F70"/>
                </a:solidFill>
                <a:latin typeface="Unbounded Bold" pitchFamily="34" charset="0"/>
                <a:ea typeface="Unbounded Bold" pitchFamily="34" charset="-122"/>
                <a:cs typeface="Unbounded Bold" pitchFamily="34" charset="-120"/>
              </a:rPr>
              <a:t>Conclusion</a:t>
            </a:r>
            <a:endParaRPr lang="en-US" sz="3900"/>
          </a:p>
        </p:txBody>
      </p:sp>
      <p:sp>
        <p:nvSpPr>
          <p:cNvPr id="3" name="Text 1"/>
          <p:cNvSpPr/>
          <p:nvPr/>
        </p:nvSpPr>
        <p:spPr>
          <a:xfrm>
            <a:off x="793790" y="2535198"/>
            <a:ext cx="13042821"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This project systematically investigated whether prompt compression can reduce hallucinations in large language models through experimental evaluation using TinyLlama and Phi-3 Mini architectures. The study implemented a comprehensive pipeline that compresses prompts before model processing and compares generated responses with those produced using original prompts.</a:t>
            </a:r>
            <a:endParaRPr lang="en-US" sz="1550"/>
          </a:p>
        </p:txBody>
      </p:sp>
      <p:sp>
        <p:nvSpPr>
          <p:cNvPr id="4" name="Shape 2"/>
          <p:cNvSpPr/>
          <p:nvPr/>
        </p:nvSpPr>
        <p:spPr>
          <a:xfrm>
            <a:off x="793790" y="3711059"/>
            <a:ext cx="4215289" cy="1824276"/>
          </a:xfrm>
          <a:prstGeom prst="roundRect">
            <a:avLst>
              <a:gd name="adj" fmla="val 4569"/>
            </a:avLst>
          </a:prstGeom>
          <a:solidFill>
            <a:srgbClr val="FFFFFF"/>
          </a:solidFill>
          <a:ln w="22860">
            <a:solidFill>
              <a:srgbClr val="BCDBD4"/>
            </a:solidFill>
            <a:prstDash val="solid"/>
          </a:ln>
        </p:spPr>
      </p:sp>
      <p:sp>
        <p:nvSpPr>
          <p:cNvPr id="5" name="Text 3"/>
          <p:cNvSpPr/>
          <p:nvPr/>
        </p:nvSpPr>
        <p:spPr>
          <a:xfrm>
            <a:off x="1015008" y="3932277"/>
            <a:ext cx="2562225" cy="310158"/>
          </a:xfrm>
          <a:prstGeom prst="rect">
            <a:avLst/>
          </a:prstGeom>
          <a:noFill/>
          <a:ln/>
        </p:spPr>
        <p:txBody>
          <a:bodyPr wrap="non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Token Efficiency</a:t>
            </a:r>
            <a:endParaRPr lang="en-US" sz="1950"/>
          </a:p>
        </p:txBody>
      </p:sp>
      <p:sp>
        <p:nvSpPr>
          <p:cNvPr id="6" name="Text 4"/>
          <p:cNvSpPr/>
          <p:nvPr/>
        </p:nvSpPr>
        <p:spPr>
          <a:xfrm>
            <a:off x="1015008" y="4361498"/>
            <a:ext cx="3772853"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Prompt compression achieved substantial token reduction, improving computational efficiency</a:t>
            </a:r>
            <a:endParaRPr lang="en-US" sz="1550"/>
          </a:p>
        </p:txBody>
      </p:sp>
      <p:sp>
        <p:nvSpPr>
          <p:cNvPr id="7" name="Shape 5"/>
          <p:cNvSpPr/>
          <p:nvPr/>
        </p:nvSpPr>
        <p:spPr>
          <a:xfrm>
            <a:off x="5207437" y="3711059"/>
            <a:ext cx="4215408" cy="1824276"/>
          </a:xfrm>
          <a:prstGeom prst="roundRect">
            <a:avLst>
              <a:gd name="adj" fmla="val 4569"/>
            </a:avLst>
          </a:prstGeom>
          <a:solidFill>
            <a:srgbClr val="FFFFFF"/>
          </a:solidFill>
          <a:ln w="22860">
            <a:solidFill>
              <a:srgbClr val="BCDBD4"/>
            </a:solidFill>
            <a:prstDash val="solid"/>
          </a:ln>
        </p:spPr>
      </p:sp>
      <p:sp>
        <p:nvSpPr>
          <p:cNvPr id="8" name="Text 6"/>
          <p:cNvSpPr/>
          <p:nvPr/>
        </p:nvSpPr>
        <p:spPr>
          <a:xfrm>
            <a:off x="5428655" y="3932277"/>
            <a:ext cx="3693914" cy="310158"/>
          </a:xfrm>
          <a:prstGeom prst="rect">
            <a:avLst/>
          </a:prstGeom>
          <a:noFill/>
          <a:ln/>
        </p:spPr>
        <p:txBody>
          <a:bodyPr wrap="non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Size-Dependent Effects</a:t>
            </a:r>
            <a:endParaRPr lang="en-US" sz="1950"/>
          </a:p>
        </p:txBody>
      </p:sp>
      <p:sp>
        <p:nvSpPr>
          <p:cNvPr id="9" name="Text 7"/>
          <p:cNvSpPr/>
          <p:nvPr/>
        </p:nvSpPr>
        <p:spPr>
          <a:xfrm>
            <a:off x="5428655" y="4361498"/>
            <a:ext cx="3772972"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Impact varies by prompt length—limited benefit for short prompts, modest improvement for longer prompts</a:t>
            </a:r>
            <a:endParaRPr lang="en-US" sz="1550"/>
          </a:p>
        </p:txBody>
      </p:sp>
      <p:sp>
        <p:nvSpPr>
          <p:cNvPr id="10" name="Shape 8"/>
          <p:cNvSpPr/>
          <p:nvPr/>
        </p:nvSpPr>
        <p:spPr>
          <a:xfrm>
            <a:off x="9621203" y="3711059"/>
            <a:ext cx="4215289" cy="1824276"/>
          </a:xfrm>
          <a:prstGeom prst="roundRect">
            <a:avLst>
              <a:gd name="adj" fmla="val 4569"/>
            </a:avLst>
          </a:prstGeom>
          <a:solidFill>
            <a:srgbClr val="FFFFFF"/>
          </a:solidFill>
          <a:ln w="22860">
            <a:solidFill>
              <a:srgbClr val="BCDBD4"/>
            </a:solidFill>
            <a:prstDash val="solid"/>
          </a:ln>
        </p:spPr>
      </p:sp>
      <p:sp>
        <p:nvSpPr>
          <p:cNvPr id="11" name="Text 9"/>
          <p:cNvSpPr/>
          <p:nvPr/>
        </p:nvSpPr>
        <p:spPr>
          <a:xfrm>
            <a:off x="9842421" y="3932277"/>
            <a:ext cx="3772853" cy="620316"/>
          </a:xfrm>
          <a:prstGeom prst="rect">
            <a:avLst/>
          </a:prstGeom>
          <a:noFill/>
          <a:ln/>
        </p:spPr>
        <p:txBody>
          <a:bodyPr wrap="square" lIns="0" tIns="0" rIns="0" bIns="0" rtlCol="0" anchor="t"/>
          <a:lstStyle/>
          <a:p>
            <a:pPr marL="0" indent="0" algn="l">
              <a:lnSpc>
                <a:spcPts val="2400"/>
              </a:lnSpc>
              <a:buNone/>
            </a:pPr>
            <a:r>
              <a:rPr lang="en-US" sz="1950" b="1">
                <a:solidFill>
                  <a:srgbClr val="333F70"/>
                </a:solidFill>
                <a:latin typeface="Unbounded Bold" pitchFamily="34" charset="0"/>
                <a:ea typeface="Unbounded Bold" pitchFamily="34" charset="-122"/>
                <a:cs typeface="Unbounded Bold" pitchFamily="34" charset="-120"/>
              </a:rPr>
              <a:t>Not Standalone Solution</a:t>
            </a:r>
            <a:endParaRPr lang="en-US" sz="1950"/>
          </a:p>
        </p:txBody>
      </p:sp>
      <p:sp>
        <p:nvSpPr>
          <p:cNvPr id="12" name="Text 10"/>
          <p:cNvSpPr/>
          <p:nvPr/>
        </p:nvSpPr>
        <p:spPr>
          <a:xfrm>
            <a:off x="9842421" y="4671655"/>
            <a:ext cx="3772853" cy="63507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Prompt compression alone insufficient for robust hallucination reduction</a:t>
            </a:r>
            <a:endParaRPr lang="en-US" sz="1550"/>
          </a:p>
        </p:txBody>
      </p:sp>
      <p:sp>
        <p:nvSpPr>
          <p:cNvPr id="13" name="Text 11"/>
          <p:cNvSpPr/>
          <p:nvPr/>
        </p:nvSpPr>
        <p:spPr>
          <a:xfrm>
            <a:off x="793790" y="5758577"/>
            <a:ext cx="13042821" cy="952619"/>
          </a:xfrm>
          <a:prstGeom prst="rect">
            <a:avLst/>
          </a:prstGeom>
          <a:noFill/>
          <a:ln/>
        </p:spPr>
        <p:txBody>
          <a:bodyPr wrap="square" lIns="0" tIns="0" rIns="0" bIns="0" rtlCol="0" anchor="t"/>
          <a:lstStyle/>
          <a:p>
            <a:pPr marL="0" indent="0" algn="l">
              <a:lnSpc>
                <a:spcPts val="2500"/>
              </a:lnSpc>
              <a:buNone/>
            </a:pPr>
            <a:r>
              <a:rPr lang="en-US" sz="1550">
                <a:solidFill>
                  <a:srgbClr val="333F70"/>
                </a:solidFill>
                <a:latin typeface="Open Sans" pitchFamily="34" charset="0"/>
                <a:ea typeface="Open Sans" pitchFamily="34" charset="-122"/>
                <a:cs typeface="Open Sans" pitchFamily="34" charset="-120"/>
              </a:rPr>
              <a:t>The findings suggest that </a:t>
            </a:r>
            <a:r>
              <a:rPr lang="en-US" sz="1550" b="1">
                <a:solidFill>
                  <a:srgbClr val="26A688"/>
                </a:solidFill>
                <a:latin typeface="Open Sans" pitchFamily="34" charset="0"/>
                <a:ea typeface="Open Sans" pitchFamily="34" charset="-122"/>
                <a:cs typeface="Open Sans" pitchFamily="34" charset="-120"/>
              </a:rPr>
              <a:t>prompt compression is a promising technique for improving LLM efficiency</a:t>
            </a:r>
            <a:r>
              <a:rPr lang="en-US" sz="1550">
                <a:solidFill>
                  <a:srgbClr val="333F70"/>
                </a:solidFill>
                <a:latin typeface="Open Sans" pitchFamily="34" charset="0"/>
                <a:ea typeface="Open Sans" pitchFamily="34" charset="-122"/>
                <a:cs typeface="Open Sans" pitchFamily="34" charset="-120"/>
              </a:rPr>
              <a:t>, but should be combined with additional methods such as retrieval augmentation, fact-checking systems, and training modifications to effectively reduce hallucinations in safety-critical applications.</a:t>
            </a:r>
            <a:endParaRPr lang="en-US" sz="15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20872" y="955953"/>
            <a:ext cx="3340894" cy="417552"/>
          </a:xfrm>
          <a:prstGeom prst="rect">
            <a:avLst/>
          </a:prstGeom>
          <a:noFill/>
          <a:ln/>
        </p:spPr>
        <p:txBody>
          <a:bodyPr wrap="none" lIns="0" tIns="0" rIns="0" bIns="0" rtlCol="0" anchor="t"/>
          <a:lstStyle/>
          <a:p>
            <a:pPr marL="0" indent="0" algn="l">
              <a:lnSpc>
                <a:spcPts val="3250"/>
              </a:lnSpc>
              <a:buNone/>
            </a:pPr>
            <a:r>
              <a:rPr lang="en-US" sz="2600" b="1">
                <a:solidFill>
                  <a:srgbClr val="333F70"/>
                </a:solidFill>
                <a:latin typeface="Unbounded Bold" pitchFamily="34" charset="0"/>
                <a:ea typeface="Unbounded Bold" pitchFamily="34" charset="-122"/>
                <a:cs typeface="Unbounded Bold" pitchFamily="34" charset="-120"/>
              </a:rPr>
              <a:t>Summary</a:t>
            </a:r>
            <a:endParaRPr lang="en-US" sz="2600"/>
          </a:p>
        </p:txBody>
      </p:sp>
      <p:sp>
        <p:nvSpPr>
          <p:cNvPr id="4" name="Shape 1"/>
          <p:cNvSpPr/>
          <p:nvPr/>
        </p:nvSpPr>
        <p:spPr>
          <a:xfrm>
            <a:off x="6020872" y="1508403"/>
            <a:ext cx="8075057" cy="1214557"/>
          </a:xfrm>
          <a:prstGeom prst="roundRect">
            <a:avLst>
              <a:gd name="adj" fmla="val 4621"/>
            </a:avLst>
          </a:prstGeom>
          <a:solidFill>
            <a:srgbClr val="D6F5EE"/>
          </a:solidFill>
          <a:ln w="7620">
            <a:solidFill>
              <a:srgbClr val="BCDBD4"/>
            </a:solidFill>
            <a:prstDash val="solid"/>
          </a:ln>
        </p:spPr>
      </p:sp>
      <p:sp>
        <p:nvSpPr>
          <p:cNvPr id="5" name="Shape 2"/>
          <p:cNvSpPr/>
          <p:nvPr/>
        </p:nvSpPr>
        <p:spPr>
          <a:xfrm>
            <a:off x="6162080" y="1649611"/>
            <a:ext cx="400883" cy="400883"/>
          </a:xfrm>
          <a:prstGeom prst="roundRect">
            <a:avLst>
              <a:gd name="adj" fmla="val 22807367"/>
            </a:avLst>
          </a:prstGeom>
          <a:solidFill>
            <a:srgbClr val="26A688"/>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72332" y="1759744"/>
            <a:ext cx="180380" cy="180380"/>
          </a:xfrm>
          <a:prstGeom prst="rect">
            <a:avLst/>
          </a:prstGeom>
        </p:spPr>
      </p:pic>
      <p:sp>
        <p:nvSpPr>
          <p:cNvPr id="7" name="Text 3"/>
          <p:cNvSpPr/>
          <p:nvPr/>
        </p:nvSpPr>
        <p:spPr>
          <a:xfrm>
            <a:off x="6162080" y="2140387"/>
            <a:ext cx="1670447"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Objective</a:t>
            </a:r>
            <a:endParaRPr lang="en-US" sz="1300"/>
          </a:p>
        </p:txBody>
      </p:sp>
      <p:sp>
        <p:nvSpPr>
          <p:cNvPr id="8" name="Text 4"/>
          <p:cNvSpPr/>
          <p:nvPr/>
        </p:nvSpPr>
        <p:spPr>
          <a:xfrm>
            <a:off x="6162080" y="2403038"/>
            <a:ext cx="7792641"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Study prompt compression impact on LLM hallucinations</a:t>
            </a:r>
            <a:endParaRPr lang="en-US" sz="1050"/>
          </a:p>
        </p:txBody>
      </p:sp>
      <p:sp>
        <p:nvSpPr>
          <p:cNvPr id="9" name="Shape 5"/>
          <p:cNvSpPr/>
          <p:nvPr/>
        </p:nvSpPr>
        <p:spPr>
          <a:xfrm>
            <a:off x="6020872" y="2812852"/>
            <a:ext cx="8075057" cy="1214557"/>
          </a:xfrm>
          <a:prstGeom prst="roundRect">
            <a:avLst>
              <a:gd name="adj" fmla="val 4621"/>
            </a:avLst>
          </a:prstGeom>
          <a:solidFill>
            <a:srgbClr val="D6F5EE"/>
          </a:solidFill>
          <a:ln w="7620">
            <a:solidFill>
              <a:srgbClr val="BCDBD4"/>
            </a:solidFill>
            <a:prstDash val="solid"/>
          </a:ln>
        </p:spPr>
      </p:sp>
      <p:sp>
        <p:nvSpPr>
          <p:cNvPr id="10" name="Shape 6"/>
          <p:cNvSpPr/>
          <p:nvPr/>
        </p:nvSpPr>
        <p:spPr>
          <a:xfrm>
            <a:off x="6162080" y="2954060"/>
            <a:ext cx="400883" cy="400883"/>
          </a:xfrm>
          <a:prstGeom prst="roundRect">
            <a:avLst>
              <a:gd name="adj" fmla="val 22807367"/>
            </a:avLst>
          </a:prstGeom>
          <a:solidFill>
            <a:srgbClr val="26A688"/>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72332" y="3064193"/>
            <a:ext cx="180380" cy="180380"/>
          </a:xfrm>
          <a:prstGeom prst="rect">
            <a:avLst/>
          </a:prstGeom>
        </p:spPr>
      </p:pic>
      <p:sp>
        <p:nvSpPr>
          <p:cNvPr id="12" name="Text 7"/>
          <p:cNvSpPr/>
          <p:nvPr/>
        </p:nvSpPr>
        <p:spPr>
          <a:xfrm>
            <a:off x="6162080" y="3444835"/>
            <a:ext cx="1670447"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Tools</a:t>
            </a:r>
            <a:endParaRPr lang="en-US" sz="1300"/>
          </a:p>
        </p:txBody>
      </p:sp>
      <p:sp>
        <p:nvSpPr>
          <p:cNvPr id="13" name="Text 8"/>
          <p:cNvSpPr/>
          <p:nvPr/>
        </p:nvSpPr>
        <p:spPr>
          <a:xfrm>
            <a:off x="6162080" y="3707487"/>
            <a:ext cx="7792641"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Python, Hugging Face, LLMLingua, RoBERTa-MNLI</a:t>
            </a:r>
            <a:endParaRPr lang="en-US" sz="1050"/>
          </a:p>
        </p:txBody>
      </p:sp>
      <p:sp>
        <p:nvSpPr>
          <p:cNvPr id="14" name="Shape 9"/>
          <p:cNvSpPr/>
          <p:nvPr/>
        </p:nvSpPr>
        <p:spPr>
          <a:xfrm>
            <a:off x="6020872" y="4117300"/>
            <a:ext cx="8075057" cy="1214557"/>
          </a:xfrm>
          <a:prstGeom prst="roundRect">
            <a:avLst>
              <a:gd name="adj" fmla="val 4621"/>
            </a:avLst>
          </a:prstGeom>
          <a:solidFill>
            <a:srgbClr val="D6F5EE"/>
          </a:solidFill>
          <a:ln w="7620">
            <a:solidFill>
              <a:srgbClr val="BCDBD4"/>
            </a:solidFill>
            <a:prstDash val="solid"/>
          </a:ln>
        </p:spPr>
      </p:sp>
      <p:sp>
        <p:nvSpPr>
          <p:cNvPr id="15" name="Shape 10"/>
          <p:cNvSpPr/>
          <p:nvPr/>
        </p:nvSpPr>
        <p:spPr>
          <a:xfrm>
            <a:off x="6162080" y="4258508"/>
            <a:ext cx="400883" cy="400883"/>
          </a:xfrm>
          <a:prstGeom prst="roundRect">
            <a:avLst>
              <a:gd name="adj" fmla="val 22807367"/>
            </a:avLst>
          </a:prstGeom>
          <a:solidFill>
            <a:srgbClr val="26A688"/>
          </a:solidFill>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72332" y="4368641"/>
            <a:ext cx="180380" cy="180380"/>
          </a:xfrm>
          <a:prstGeom prst="rect">
            <a:avLst/>
          </a:prstGeom>
        </p:spPr>
      </p:pic>
      <p:sp>
        <p:nvSpPr>
          <p:cNvPr id="17" name="Text 11"/>
          <p:cNvSpPr/>
          <p:nvPr/>
        </p:nvSpPr>
        <p:spPr>
          <a:xfrm>
            <a:off x="6162080" y="4749284"/>
            <a:ext cx="1670447"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Findings</a:t>
            </a:r>
            <a:endParaRPr lang="en-US" sz="1300"/>
          </a:p>
        </p:txBody>
      </p:sp>
      <p:sp>
        <p:nvSpPr>
          <p:cNvPr id="18" name="Text 12"/>
          <p:cNvSpPr/>
          <p:nvPr/>
        </p:nvSpPr>
        <p:spPr>
          <a:xfrm>
            <a:off x="6162080" y="5011936"/>
            <a:ext cx="7792641"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Token reduction achieved; size-dependent hallucination effects</a:t>
            </a:r>
            <a:endParaRPr lang="en-US" sz="1050"/>
          </a:p>
        </p:txBody>
      </p:sp>
      <p:sp>
        <p:nvSpPr>
          <p:cNvPr id="19" name="Shape 13"/>
          <p:cNvSpPr/>
          <p:nvPr/>
        </p:nvSpPr>
        <p:spPr>
          <a:xfrm>
            <a:off x="6020872" y="5421749"/>
            <a:ext cx="8075057" cy="1214557"/>
          </a:xfrm>
          <a:prstGeom prst="roundRect">
            <a:avLst>
              <a:gd name="adj" fmla="val 4621"/>
            </a:avLst>
          </a:prstGeom>
          <a:solidFill>
            <a:srgbClr val="D6F5EE"/>
          </a:solidFill>
          <a:ln w="7620">
            <a:solidFill>
              <a:srgbClr val="BCDBD4"/>
            </a:solidFill>
            <a:prstDash val="solid"/>
          </a:ln>
        </p:spPr>
      </p:sp>
      <p:sp>
        <p:nvSpPr>
          <p:cNvPr id="20" name="Shape 14"/>
          <p:cNvSpPr/>
          <p:nvPr/>
        </p:nvSpPr>
        <p:spPr>
          <a:xfrm>
            <a:off x="6162080" y="5562957"/>
            <a:ext cx="400883" cy="400883"/>
          </a:xfrm>
          <a:prstGeom prst="roundRect">
            <a:avLst>
              <a:gd name="adj" fmla="val 22807367"/>
            </a:avLst>
          </a:prstGeom>
          <a:solidFill>
            <a:srgbClr val="26A688"/>
          </a:solidFill>
          <a:ln/>
        </p:spPr>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72332" y="5673090"/>
            <a:ext cx="180380" cy="180380"/>
          </a:xfrm>
          <a:prstGeom prst="rect">
            <a:avLst/>
          </a:prstGeom>
        </p:spPr>
      </p:pic>
      <p:sp>
        <p:nvSpPr>
          <p:cNvPr id="22" name="Text 15"/>
          <p:cNvSpPr/>
          <p:nvPr/>
        </p:nvSpPr>
        <p:spPr>
          <a:xfrm>
            <a:off x="6162080" y="6053733"/>
            <a:ext cx="1670447" cy="208717"/>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Insight</a:t>
            </a:r>
            <a:endParaRPr lang="en-US" sz="1300"/>
          </a:p>
        </p:txBody>
      </p:sp>
      <p:sp>
        <p:nvSpPr>
          <p:cNvPr id="23" name="Text 16"/>
          <p:cNvSpPr/>
          <p:nvPr/>
        </p:nvSpPr>
        <p:spPr>
          <a:xfrm>
            <a:off x="6162080" y="6316385"/>
            <a:ext cx="7792641" cy="178713"/>
          </a:xfrm>
          <a:prstGeom prst="rect">
            <a:avLst/>
          </a:prstGeom>
          <a:noFill/>
          <a:ln/>
        </p:spPr>
        <p:txBody>
          <a:bodyPr wrap="non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Compression improves efficiency but requires complementary methods</a:t>
            </a:r>
            <a:endParaRPr lang="en-US" sz="1050"/>
          </a:p>
        </p:txBody>
      </p:sp>
      <p:sp>
        <p:nvSpPr>
          <p:cNvPr id="24" name="Text 17"/>
          <p:cNvSpPr/>
          <p:nvPr/>
        </p:nvSpPr>
        <p:spPr>
          <a:xfrm>
            <a:off x="6020872" y="6737509"/>
            <a:ext cx="8075057" cy="536138"/>
          </a:xfrm>
          <a:prstGeom prst="rect">
            <a:avLst/>
          </a:prstGeom>
          <a:noFill/>
          <a:ln/>
        </p:spPr>
        <p:txBody>
          <a:bodyPr wrap="square" lIns="0" tIns="0" rIns="0" bIns="0" rtlCol="0" anchor="t"/>
          <a:lstStyle/>
          <a:p>
            <a:pPr marL="0" indent="0" algn="l">
              <a:lnSpc>
                <a:spcPts val="1400"/>
              </a:lnSpc>
              <a:buNone/>
            </a:pPr>
            <a:r>
              <a:rPr lang="en-US" sz="1050">
                <a:solidFill>
                  <a:srgbClr val="333F70"/>
                </a:solidFill>
                <a:latin typeface="Open Sans" pitchFamily="34" charset="0"/>
                <a:ea typeface="Open Sans" pitchFamily="34" charset="-122"/>
                <a:cs typeface="Open Sans" pitchFamily="34" charset="-120"/>
              </a:rPr>
              <a:t>Prompt compression represents one component of a broader strategy for improving LLM reliability. Future work should explore hybrid approaches combining compression with retrieval systems, dynamic strategies, and advanced hallucination detection to achieve robust factual consistency in production systems.</a:t>
            </a:r>
            <a:endParaRPr lang="en-US" sz="10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25A78D-16F6-14BE-5636-8684F55435DD}"/>
              </a:ext>
            </a:extLst>
          </p:cNvPr>
          <p:cNvSpPr txBox="1"/>
          <p:nvPr/>
        </p:nvSpPr>
        <p:spPr>
          <a:xfrm>
            <a:off x="3380198" y="412243"/>
            <a:ext cx="7315200" cy="969496"/>
          </a:xfrm>
          <a:prstGeom prst="rect">
            <a:avLst/>
          </a:prstGeom>
          <a:noFill/>
        </p:spPr>
        <p:txBody>
          <a:bodyPr wrap="square" lIns="91440" tIns="45720" rIns="91440" bIns="45720" anchor="t">
            <a:spAutoFit/>
          </a:bodyPr>
          <a:lstStyle/>
          <a:p>
            <a:pPr algn="ctr"/>
            <a:r>
              <a:rPr lang="en-US" sz="3900" b="1">
                <a:solidFill>
                  <a:srgbClr val="333F70"/>
                </a:solidFill>
                <a:latin typeface="Unbounded Bold"/>
              </a:rPr>
              <a:t>References</a:t>
            </a:r>
          </a:p>
          <a:p>
            <a:r>
              <a:rPr lang="en-US"/>
              <a:t> </a:t>
            </a:r>
            <a:endParaRPr lang="en-US">
              <a:ea typeface="Calibri"/>
              <a:cs typeface="Calibri"/>
            </a:endParaRPr>
          </a:p>
        </p:txBody>
      </p:sp>
      <p:sp>
        <p:nvSpPr>
          <p:cNvPr id="2" name="TextBox 1">
            <a:extLst>
              <a:ext uri="{FF2B5EF4-FFF2-40B4-BE49-F238E27FC236}">
                <a16:creationId xmlns:a16="http://schemas.microsoft.com/office/drawing/2014/main" id="{90EB8783-BB19-2A1A-2838-F611FA974DDD}"/>
              </a:ext>
            </a:extLst>
          </p:cNvPr>
          <p:cNvSpPr txBox="1"/>
          <p:nvPr/>
        </p:nvSpPr>
        <p:spPr>
          <a:xfrm>
            <a:off x="2285999" y="2043112"/>
            <a:ext cx="1018698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Du, Y., Tian, M., </a:t>
            </a:r>
            <a:r>
              <a:rPr lang="en-US" err="1">
                <a:ea typeface="+mn-lt"/>
                <a:cs typeface="+mn-lt"/>
              </a:rPr>
              <a:t>Ronanki</a:t>
            </a:r>
            <a:r>
              <a:rPr lang="en-US">
                <a:ea typeface="+mn-lt"/>
                <a:cs typeface="+mn-lt"/>
              </a:rPr>
              <a:t>, S., </a:t>
            </a:r>
            <a:r>
              <a:rPr lang="en-US" err="1">
                <a:ea typeface="+mn-lt"/>
                <a:cs typeface="+mn-lt"/>
              </a:rPr>
              <a:t>Rongali</a:t>
            </a:r>
            <a:r>
              <a:rPr lang="en-US">
                <a:ea typeface="+mn-lt"/>
                <a:cs typeface="+mn-lt"/>
              </a:rPr>
              <a:t>, S., Bodapati, S., Galstyan, A., Wells, A., Schwartz, R., Huerta, E. A., &amp; Peng, H. (n.d.). </a:t>
            </a:r>
            <a:r>
              <a:rPr lang="en-US" i="1">
                <a:ea typeface="+mn-lt"/>
                <a:cs typeface="+mn-lt"/>
              </a:rPr>
              <a:t>Context Length Alone Hurts LLM Performance Despite Perfect Retrieval</a:t>
            </a:r>
            <a:r>
              <a:rPr lang="en-US">
                <a:ea typeface="+mn-lt"/>
                <a:cs typeface="+mn-lt"/>
              </a:rPr>
              <a:t>.</a:t>
            </a:r>
            <a:endParaRPr lang="en-US"/>
          </a:p>
          <a:p>
            <a:endParaRPr lang="en-US">
              <a:ea typeface="+mn-lt"/>
              <a:cs typeface="+mn-lt"/>
            </a:endParaRPr>
          </a:p>
          <a:p>
            <a:r>
              <a:rPr lang="en-US">
                <a:ea typeface="+mn-lt"/>
                <a:cs typeface="+mn-lt"/>
              </a:rPr>
              <a:t>Jiang, H., Wu, Q., Lin, C.-Y., Yang, Y., &amp; Qiu, L. (n.d.). </a:t>
            </a:r>
            <a:r>
              <a:rPr lang="en-US" i="1" err="1">
                <a:ea typeface="+mn-lt"/>
                <a:cs typeface="+mn-lt"/>
              </a:rPr>
              <a:t>LLMLingua</a:t>
            </a:r>
            <a:r>
              <a:rPr lang="en-US" i="1">
                <a:ea typeface="+mn-lt"/>
                <a:cs typeface="+mn-lt"/>
              </a:rPr>
              <a:t>: Compressing Prompts for Accelerated Inference of Large Language Models</a:t>
            </a:r>
            <a:r>
              <a:rPr lang="en-US">
                <a:ea typeface="+mn-lt"/>
                <a:cs typeface="+mn-lt"/>
              </a:rPr>
              <a:t>. Retrieved </a:t>
            </a:r>
            <a:r>
              <a:rPr lang="en-US">
                <a:ea typeface="+mn-lt"/>
                <a:cs typeface="+mn-lt"/>
                <a:hlinkClick r:id="rId2"/>
              </a:rPr>
              <a:t>https://aka.ms/LLMLingua</a:t>
            </a:r>
            <a:r>
              <a:rPr lang="en-US">
                <a:ea typeface="+mn-lt"/>
                <a:cs typeface="+mn-lt"/>
              </a:rPr>
              <a:t>.</a:t>
            </a:r>
            <a:endParaRPr lang="en-US"/>
          </a:p>
          <a:p>
            <a:endParaRPr lang="en-US">
              <a:ea typeface="+mn-lt"/>
              <a:cs typeface="+mn-lt"/>
            </a:endParaRPr>
          </a:p>
          <a:p>
            <a:r>
              <a:rPr lang="en-US">
                <a:ea typeface="+mn-lt"/>
                <a:cs typeface="+mn-lt"/>
              </a:rPr>
              <a:t>Jiang, H., Wu, Q., Luo, X., Li, D., Lin, C.-Y., Yang, Y., &amp; Qiu, L. (n.d.). </a:t>
            </a:r>
            <a:r>
              <a:rPr lang="en-US" i="1" err="1">
                <a:ea typeface="+mn-lt"/>
                <a:cs typeface="+mn-lt"/>
              </a:rPr>
              <a:t>LongLLMLingua</a:t>
            </a:r>
            <a:r>
              <a:rPr lang="en-US" i="1">
                <a:ea typeface="+mn-lt"/>
                <a:cs typeface="+mn-lt"/>
              </a:rPr>
              <a:t>: Accelerating and Enhancing LLMs in Long Context Scenarios via Prompt Compression</a:t>
            </a:r>
            <a:r>
              <a:rPr lang="en-US">
                <a:ea typeface="+mn-lt"/>
                <a:cs typeface="+mn-lt"/>
              </a:rPr>
              <a:t> (Vol. 1). Retrieved </a:t>
            </a:r>
            <a:r>
              <a:rPr lang="en-US">
                <a:ea typeface="+mn-lt"/>
                <a:cs typeface="+mn-lt"/>
                <a:hlinkClick r:id="rId3"/>
              </a:rPr>
              <a:t>https://cohere.com/rerank</a:t>
            </a:r>
            <a:endParaRPr lang="en-US">
              <a:ea typeface="Calibri"/>
              <a:cs typeface="Calibri"/>
            </a:endParaRPr>
          </a:p>
          <a:p>
            <a:endParaRPr lang="en-US">
              <a:ea typeface="+mn-lt"/>
              <a:cs typeface="+mn-lt"/>
            </a:endParaRPr>
          </a:p>
          <a:p>
            <a:r>
              <a:rPr lang="en-US">
                <a:ea typeface="+mn-lt"/>
                <a:cs typeface="+mn-lt"/>
              </a:rPr>
              <a:t>Li, J., Cheng, X., Zhao, W. X., Nie, J.-Y., &amp; Wen, J.-R. (2023). </a:t>
            </a:r>
            <a:r>
              <a:rPr lang="en-US" i="1" err="1">
                <a:ea typeface="+mn-lt"/>
                <a:cs typeface="+mn-lt"/>
              </a:rPr>
              <a:t>HaluEval</a:t>
            </a:r>
            <a:r>
              <a:rPr lang="en-US" i="1">
                <a:ea typeface="+mn-lt"/>
                <a:cs typeface="+mn-lt"/>
              </a:rPr>
              <a:t>: A Large-Scale Hallucination Evaluation Benchmark for Large Language Models</a:t>
            </a:r>
            <a:r>
              <a:rPr lang="en-US">
                <a:ea typeface="+mn-lt"/>
                <a:cs typeface="+mn-lt"/>
              </a:rPr>
              <a:t>. </a:t>
            </a:r>
            <a:r>
              <a:rPr lang="en-US">
                <a:ea typeface="+mn-lt"/>
                <a:cs typeface="+mn-lt"/>
                <a:hlinkClick r:id="rId4"/>
              </a:rPr>
              <a:t>http://arxiv.org/abs/2305.11747</a:t>
            </a:r>
            <a:endParaRPr lang="en-US"/>
          </a:p>
          <a:p>
            <a:endParaRPr lang="en-US">
              <a:ea typeface="+mn-lt"/>
              <a:cs typeface="+mn-lt"/>
            </a:endParaRPr>
          </a:p>
          <a:p>
            <a:r>
              <a:rPr lang="en-US">
                <a:ea typeface="+mn-lt"/>
                <a:cs typeface="+mn-lt"/>
              </a:rPr>
              <a:t>Pan, Z., Wu, Q., Jiang, H., Xia, M., Luo, X., Zhang, J., Lin, Q., </a:t>
            </a:r>
            <a:r>
              <a:rPr lang="en-US" err="1">
                <a:ea typeface="+mn-lt"/>
                <a:cs typeface="+mn-lt"/>
              </a:rPr>
              <a:t>Rühle</a:t>
            </a:r>
            <a:r>
              <a:rPr lang="en-US">
                <a:ea typeface="+mn-lt"/>
                <a:cs typeface="+mn-lt"/>
              </a:rPr>
              <a:t>, V., Yang, Y., Lin, C.-Y., Vicky Zhao, H., Qiu, L., &amp; Zhang, D. (n.d.). </a:t>
            </a:r>
            <a:r>
              <a:rPr lang="en-US" i="1">
                <a:ea typeface="+mn-lt"/>
                <a:cs typeface="+mn-lt"/>
              </a:rPr>
              <a:t>LLMLingua-2: Data Distillation for Efficient and Faithful Task-Agnostic Prompt Compression</a:t>
            </a:r>
            <a:r>
              <a:rPr lang="en-US">
                <a:ea typeface="+mn-lt"/>
                <a:cs typeface="+mn-lt"/>
              </a:rPr>
              <a:t>. Retrieved </a:t>
            </a:r>
            <a:r>
              <a:rPr lang="en-US">
                <a:ea typeface="+mn-lt"/>
                <a:cs typeface="+mn-lt"/>
                <a:hlinkClick r:id="rId5"/>
              </a:rPr>
              <a:t>https://aka.ms/LLMLingua-2</a:t>
            </a:r>
            <a:endParaRPr lang="en-US"/>
          </a:p>
          <a:p>
            <a:endParaRPr lang="en-US"/>
          </a:p>
          <a:p>
            <a:pPr algn="l"/>
            <a:endParaRPr lang="en-US">
              <a:ea typeface="Calibri"/>
              <a:cs typeface="Calibri"/>
            </a:endParaRPr>
          </a:p>
        </p:txBody>
      </p:sp>
    </p:spTree>
    <p:extLst>
      <p:ext uri="{BB962C8B-B14F-4D97-AF65-F5344CB8AC3E}">
        <p14:creationId xmlns:p14="http://schemas.microsoft.com/office/powerpoint/2010/main" val="1613340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14</Slides>
  <Notes>11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revision>11</cp:revision>
  <dcterms:created xsi:type="dcterms:W3CDTF">2026-03-12T06:04:35Z</dcterms:created>
  <dcterms:modified xsi:type="dcterms:W3CDTF">2026-03-12T10:30:42Z</dcterms:modified>
</cp:coreProperties>
</file>